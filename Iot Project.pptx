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11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2AEB14-F457-4E03-BDB6-AFA55811D3CF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E2B712D-DBB8-499D-8409-A77186653BAE}">
      <dgm:prSet/>
      <dgm:spPr/>
      <dgm:t>
        <a:bodyPr/>
        <a:lstStyle/>
        <a:p>
          <a:pPr>
            <a:defRPr b="1"/>
          </a:pPr>
          <a:r>
            <a:rPr lang="en-US" b="1"/>
            <a:t>Title:</a:t>
          </a:r>
          <a:r>
            <a:rPr lang="en-US"/>
            <a:t> How the System Connects</a:t>
          </a:r>
        </a:p>
      </dgm:t>
    </dgm:pt>
    <dgm:pt modelId="{1E299324-0A18-415F-B1AA-C6F730CF4359}" type="parTrans" cxnId="{9443E0BB-CCA9-44B4-B531-6BB66ABCB453}">
      <dgm:prSet/>
      <dgm:spPr/>
      <dgm:t>
        <a:bodyPr/>
        <a:lstStyle/>
        <a:p>
          <a:endParaRPr lang="en-US"/>
        </a:p>
      </dgm:t>
    </dgm:pt>
    <dgm:pt modelId="{D1BFCC8B-5BC8-4C4F-BB2D-AB4C9EA2514E}" type="sibTrans" cxnId="{9443E0BB-CCA9-44B4-B531-6BB66ABCB453}">
      <dgm:prSet/>
      <dgm:spPr/>
      <dgm:t>
        <a:bodyPr/>
        <a:lstStyle/>
        <a:p>
          <a:endParaRPr lang="en-US"/>
        </a:p>
      </dgm:t>
    </dgm:pt>
    <dgm:pt modelId="{39C17452-7283-48C8-B655-4A1B0AE98B10}">
      <dgm:prSet/>
      <dgm:spPr/>
      <dgm:t>
        <a:bodyPr/>
        <a:lstStyle/>
        <a:p>
          <a:pPr>
            <a:defRPr b="1"/>
          </a:pPr>
          <a:r>
            <a:rPr lang="en-US" b="1"/>
            <a:t>The 4 Pillars:</a:t>
          </a:r>
          <a:endParaRPr lang="en-US"/>
        </a:p>
      </dgm:t>
    </dgm:pt>
    <dgm:pt modelId="{B0A10437-64A7-464F-B899-DA0BEBD927E1}" type="parTrans" cxnId="{B1EA9E9A-963A-4575-936C-9A331F988C2A}">
      <dgm:prSet/>
      <dgm:spPr/>
      <dgm:t>
        <a:bodyPr/>
        <a:lstStyle/>
        <a:p>
          <a:endParaRPr lang="en-US"/>
        </a:p>
      </dgm:t>
    </dgm:pt>
    <dgm:pt modelId="{5A2B8253-D9E4-4690-B437-5B020F115222}" type="sibTrans" cxnId="{B1EA9E9A-963A-4575-936C-9A331F988C2A}">
      <dgm:prSet/>
      <dgm:spPr/>
      <dgm:t>
        <a:bodyPr/>
        <a:lstStyle/>
        <a:p>
          <a:endParaRPr lang="en-US"/>
        </a:p>
      </dgm:t>
    </dgm:pt>
    <dgm:pt modelId="{1738D85F-6B3A-4BE9-9F10-2032A4E6D740}">
      <dgm:prSet/>
      <dgm:spPr/>
      <dgm:t>
        <a:bodyPr/>
        <a:lstStyle/>
        <a:p>
          <a:r>
            <a:rPr lang="en-US" b="1"/>
            <a:t>Hardware (Edge):</a:t>
          </a:r>
          <a:r>
            <a:rPr lang="en-US"/>
            <a:t> ESP32 + Sensors (INA219, DHT11).</a:t>
          </a:r>
        </a:p>
      </dgm:t>
    </dgm:pt>
    <dgm:pt modelId="{3536001D-869A-4E44-899A-846D7AC42806}" type="parTrans" cxnId="{9B8B3F41-A448-4401-B98D-0063FCB46041}">
      <dgm:prSet/>
      <dgm:spPr/>
      <dgm:t>
        <a:bodyPr/>
        <a:lstStyle/>
        <a:p>
          <a:endParaRPr lang="en-US"/>
        </a:p>
      </dgm:t>
    </dgm:pt>
    <dgm:pt modelId="{451727F6-5A20-4B10-8A67-5A0C9B5DE57E}" type="sibTrans" cxnId="{9B8B3F41-A448-4401-B98D-0063FCB46041}">
      <dgm:prSet/>
      <dgm:spPr/>
      <dgm:t>
        <a:bodyPr/>
        <a:lstStyle/>
        <a:p>
          <a:endParaRPr lang="en-US"/>
        </a:p>
      </dgm:t>
    </dgm:pt>
    <dgm:pt modelId="{387E4E12-8191-4A55-8632-257F12554391}">
      <dgm:prSet/>
      <dgm:spPr/>
      <dgm:t>
        <a:bodyPr/>
        <a:lstStyle/>
        <a:p>
          <a:r>
            <a:rPr lang="en-US" b="1"/>
            <a:t>Communication:</a:t>
          </a:r>
          <a:r>
            <a:rPr lang="en-US"/>
            <a:t> Wi-Fi (HTTP POST Requests).</a:t>
          </a:r>
        </a:p>
      </dgm:t>
    </dgm:pt>
    <dgm:pt modelId="{0A8CDCDD-032E-4AA1-A8D8-1408DE6A2B6E}" type="parTrans" cxnId="{5AA7E24F-C169-446E-ACEF-DB74A66A1E48}">
      <dgm:prSet/>
      <dgm:spPr/>
      <dgm:t>
        <a:bodyPr/>
        <a:lstStyle/>
        <a:p>
          <a:endParaRPr lang="en-US"/>
        </a:p>
      </dgm:t>
    </dgm:pt>
    <dgm:pt modelId="{221C3357-7066-4647-BAF5-C57F26ACC8BD}" type="sibTrans" cxnId="{5AA7E24F-C169-446E-ACEF-DB74A66A1E48}">
      <dgm:prSet/>
      <dgm:spPr/>
      <dgm:t>
        <a:bodyPr/>
        <a:lstStyle/>
        <a:p>
          <a:endParaRPr lang="en-US"/>
        </a:p>
      </dgm:t>
    </dgm:pt>
    <dgm:pt modelId="{C0FAE8EE-4C07-409E-9693-E56AAF6D8356}">
      <dgm:prSet/>
      <dgm:spPr/>
      <dgm:t>
        <a:bodyPr/>
        <a:lstStyle/>
        <a:p>
          <a:r>
            <a:rPr lang="en-US" b="1"/>
            <a:t>Backend (Server):</a:t>
          </a:r>
          <a:r>
            <a:rPr lang="en-US"/>
            <a:t> Python (FastAPI) + Supabase (Database).</a:t>
          </a:r>
        </a:p>
      </dgm:t>
    </dgm:pt>
    <dgm:pt modelId="{C077E8F3-6B19-4EC6-A84B-2F61E3157F71}" type="parTrans" cxnId="{C876EEEF-45C7-4914-B2FF-581F32EF58FF}">
      <dgm:prSet/>
      <dgm:spPr/>
      <dgm:t>
        <a:bodyPr/>
        <a:lstStyle/>
        <a:p>
          <a:endParaRPr lang="en-US"/>
        </a:p>
      </dgm:t>
    </dgm:pt>
    <dgm:pt modelId="{D786B530-9158-4341-BBCA-BB640502E8B1}" type="sibTrans" cxnId="{C876EEEF-45C7-4914-B2FF-581F32EF58FF}">
      <dgm:prSet/>
      <dgm:spPr/>
      <dgm:t>
        <a:bodyPr/>
        <a:lstStyle/>
        <a:p>
          <a:endParaRPr lang="en-US"/>
        </a:p>
      </dgm:t>
    </dgm:pt>
    <dgm:pt modelId="{AFD296CB-8258-4864-8358-12C0B79FF2C5}">
      <dgm:prSet/>
      <dgm:spPr/>
      <dgm:t>
        <a:bodyPr/>
        <a:lstStyle/>
        <a:p>
          <a:r>
            <a:rPr lang="en-US" b="1"/>
            <a:t>Frontend (User):</a:t>
          </a:r>
          <a:r>
            <a:rPr lang="en-US"/>
            <a:t> React.js Dashboard.</a:t>
          </a:r>
        </a:p>
      </dgm:t>
    </dgm:pt>
    <dgm:pt modelId="{294AD823-9D64-451F-A6C9-2E2322FB4A16}" type="parTrans" cxnId="{6EB3AF25-8359-488F-A26E-BEC6E57FF72D}">
      <dgm:prSet/>
      <dgm:spPr/>
      <dgm:t>
        <a:bodyPr/>
        <a:lstStyle/>
        <a:p>
          <a:endParaRPr lang="en-US"/>
        </a:p>
      </dgm:t>
    </dgm:pt>
    <dgm:pt modelId="{E0C92846-4DA8-42BF-BDA3-D4122D96B240}" type="sibTrans" cxnId="{6EB3AF25-8359-488F-A26E-BEC6E57FF72D}">
      <dgm:prSet/>
      <dgm:spPr/>
      <dgm:t>
        <a:bodyPr/>
        <a:lstStyle/>
        <a:p>
          <a:endParaRPr lang="en-US"/>
        </a:p>
      </dgm:t>
    </dgm:pt>
    <dgm:pt modelId="{A5ECBA2B-4484-4F49-97B4-0DCDAE0386C5}" type="pres">
      <dgm:prSet presAssocID="{772AEB14-F457-4E03-BDB6-AFA55811D3CF}" presName="root" presStyleCnt="0">
        <dgm:presLayoutVars>
          <dgm:dir/>
          <dgm:resizeHandles val="exact"/>
        </dgm:presLayoutVars>
      </dgm:prSet>
      <dgm:spPr/>
    </dgm:pt>
    <dgm:pt modelId="{4E369B45-AAD9-4430-96DF-F6B0B0044A3C}" type="pres">
      <dgm:prSet presAssocID="{4E2B712D-DBB8-499D-8409-A77186653BAE}" presName="compNode" presStyleCnt="0"/>
      <dgm:spPr/>
    </dgm:pt>
    <dgm:pt modelId="{266CEEFA-C75C-4099-9AD5-8EC6D5537EB7}" type="pres">
      <dgm:prSet presAssocID="{4E2B712D-DBB8-499D-8409-A77186653BA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622FE06E-F4DC-4B97-B8CB-28AA97310E53}" type="pres">
      <dgm:prSet presAssocID="{4E2B712D-DBB8-499D-8409-A77186653BAE}" presName="iconSpace" presStyleCnt="0"/>
      <dgm:spPr/>
    </dgm:pt>
    <dgm:pt modelId="{AB291F9B-87FF-4C26-8343-217CEBFBD295}" type="pres">
      <dgm:prSet presAssocID="{4E2B712D-DBB8-499D-8409-A77186653BAE}" presName="parTx" presStyleLbl="revTx" presStyleIdx="0" presStyleCnt="4">
        <dgm:presLayoutVars>
          <dgm:chMax val="0"/>
          <dgm:chPref val="0"/>
        </dgm:presLayoutVars>
      </dgm:prSet>
      <dgm:spPr/>
    </dgm:pt>
    <dgm:pt modelId="{A285C35A-71E3-4094-89DE-009E9D86B32D}" type="pres">
      <dgm:prSet presAssocID="{4E2B712D-DBB8-499D-8409-A77186653BAE}" presName="txSpace" presStyleCnt="0"/>
      <dgm:spPr/>
    </dgm:pt>
    <dgm:pt modelId="{F3F66BB9-A503-4A7E-A5F9-828BB72DD715}" type="pres">
      <dgm:prSet presAssocID="{4E2B712D-DBB8-499D-8409-A77186653BAE}" presName="desTx" presStyleLbl="revTx" presStyleIdx="1" presStyleCnt="4">
        <dgm:presLayoutVars/>
      </dgm:prSet>
      <dgm:spPr/>
    </dgm:pt>
    <dgm:pt modelId="{E14007D1-B266-4949-ACE3-A642890BE2FB}" type="pres">
      <dgm:prSet presAssocID="{D1BFCC8B-5BC8-4C4F-BB2D-AB4C9EA2514E}" presName="sibTrans" presStyleCnt="0"/>
      <dgm:spPr/>
    </dgm:pt>
    <dgm:pt modelId="{49067D9B-F056-4996-AEB7-959C2096A17C}" type="pres">
      <dgm:prSet presAssocID="{39C17452-7283-48C8-B655-4A1B0AE98B10}" presName="compNode" presStyleCnt="0"/>
      <dgm:spPr/>
    </dgm:pt>
    <dgm:pt modelId="{41AF7A76-B082-41F5-AA5C-F4778652FD07}" type="pres">
      <dgm:prSet presAssocID="{39C17452-7283-48C8-B655-4A1B0AE98B1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23DB247B-4094-4CBB-884A-54531FAD9765}" type="pres">
      <dgm:prSet presAssocID="{39C17452-7283-48C8-B655-4A1B0AE98B10}" presName="iconSpace" presStyleCnt="0"/>
      <dgm:spPr/>
    </dgm:pt>
    <dgm:pt modelId="{5ACED557-147B-4C62-A435-85B5CC9BCC43}" type="pres">
      <dgm:prSet presAssocID="{39C17452-7283-48C8-B655-4A1B0AE98B10}" presName="parTx" presStyleLbl="revTx" presStyleIdx="2" presStyleCnt="4">
        <dgm:presLayoutVars>
          <dgm:chMax val="0"/>
          <dgm:chPref val="0"/>
        </dgm:presLayoutVars>
      </dgm:prSet>
      <dgm:spPr/>
    </dgm:pt>
    <dgm:pt modelId="{390F4051-4652-486E-9629-10709B5DAAD3}" type="pres">
      <dgm:prSet presAssocID="{39C17452-7283-48C8-B655-4A1B0AE98B10}" presName="txSpace" presStyleCnt="0"/>
      <dgm:spPr/>
    </dgm:pt>
    <dgm:pt modelId="{0C7FA292-C39E-4A4F-89A0-44A254F7B5AE}" type="pres">
      <dgm:prSet presAssocID="{39C17452-7283-48C8-B655-4A1B0AE98B10}" presName="desTx" presStyleLbl="revTx" presStyleIdx="3" presStyleCnt="4">
        <dgm:presLayoutVars/>
      </dgm:prSet>
      <dgm:spPr/>
    </dgm:pt>
  </dgm:ptLst>
  <dgm:cxnLst>
    <dgm:cxn modelId="{91782B0A-7F60-4D1B-8D55-D2BBFD3DF280}" type="presOf" srcId="{772AEB14-F457-4E03-BDB6-AFA55811D3CF}" destId="{A5ECBA2B-4484-4F49-97B4-0DCDAE0386C5}" srcOrd="0" destOrd="0" presId="urn:microsoft.com/office/officeart/2018/2/layout/IconLabelDescriptionList"/>
    <dgm:cxn modelId="{7C70CA1F-FD70-43E0-B0B6-912FBFD234C5}" type="presOf" srcId="{AFD296CB-8258-4864-8358-12C0B79FF2C5}" destId="{0C7FA292-C39E-4A4F-89A0-44A254F7B5AE}" srcOrd="0" destOrd="3" presId="urn:microsoft.com/office/officeart/2018/2/layout/IconLabelDescriptionList"/>
    <dgm:cxn modelId="{6EB3AF25-8359-488F-A26E-BEC6E57FF72D}" srcId="{39C17452-7283-48C8-B655-4A1B0AE98B10}" destId="{AFD296CB-8258-4864-8358-12C0B79FF2C5}" srcOrd="3" destOrd="0" parTransId="{294AD823-9D64-451F-A6C9-2E2322FB4A16}" sibTransId="{E0C92846-4DA8-42BF-BDA3-D4122D96B240}"/>
    <dgm:cxn modelId="{BEB0843B-9A04-40D8-99C7-45C4FDF93B72}" type="presOf" srcId="{387E4E12-8191-4A55-8632-257F12554391}" destId="{0C7FA292-C39E-4A4F-89A0-44A254F7B5AE}" srcOrd="0" destOrd="1" presId="urn:microsoft.com/office/officeart/2018/2/layout/IconLabelDescriptionList"/>
    <dgm:cxn modelId="{E4100F3F-7D5B-428D-BB62-B3D94A34602A}" type="presOf" srcId="{1738D85F-6B3A-4BE9-9F10-2032A4E6D740}" destId="{0C7FA292-C39E-4A4F-89A0-44A254F7B5AE}" srcOrd="0" destOrd="0" presId="urn:microsoft.com/office/officeart/2018/2/layout/IconLabelDescriptionList"/>
    <dgm:cxn modelId="{9B8B3F41-A448-4401-B98D-0063FCB46041}" srcId="{39C17452-7283-48C8-B655-4A1B0AE98B10}" destId="{1738D85F-6B3A-4BE9-9F10-2032A4E6D740}" srcOrd="0" destOrd="0" parTransId="{3536001D-869A-4E44-899A-846D7AC42806}" sibTransId="{451727F6-5A20-4B10-8A67-5A0C9B5DE57E}"/>
    <dgm:cxn modelId="{15F61967-6276-42EB-8D27-DEDDF29A7583}" type="presOf" srcId="{C0FAE8EE-4C07-409E-9693-E56AAF6D8356}" destId="{0C7FA292-C39E-4A4F-89A0-44A254F7B5AE}" srcOrd="0" destOrd="2" presId="urn:microsoft.com/office/officeart/2018/2/layout/IconLabelDescriptionList"/>
    <dgm:cxn modelId="{5AA7E24F-C169-446E-ACEF-DB74A66A1E48}" srcId="{39C17452-7283-48C8-B655-4A1B0AE98B10}" destId="{387E4E12-8191-4A55-8632-257F12554391}" srcOrd="1" destOrd="0" parTransId="{0A8CDCDD-032E-4AA1-A8D8-1408DE6A2B6E}" sibTransId="{221C3357-7066-4647-BAF5-C57F26ACC8BD}"/>
    <dgm:cxn modelId="{B4F4D688-D924-4713-87F5-147B4F6EA2F3}" type="presOf" srcId="{4E2B712D-DBB8-499D-8409-A77186653BAE}" destId="{AB291F9B-87FF-4C26-8343-217CEBFBD295}" srcOrd="0" destOrd="0" presId="urn:microsoft.com/office/officeart/2018/2/layout/IconLabelDescriptionList"/>
    <dgm:cxn modelId="{500BC793-D447-430C-AD9F-7DE5C07B65CB}" type="presOf" srcId="{39C17452-7283-48C8-B655-4A1B0AE98B10}" destId="{5ACED557-147B-4C62-A435-85B5CC9BCC43}" srcOrd="0" destOrd="0" presId="urn:microsoft.com/office/officeart/2018/2/layout/IconLabelDescriptionList"/>
    <dgm:cxn modelId="{B1EA9E9A-963A-4575-936C-9A331F988C2A}" srcId="{772AEB14-F457-4E03-BDB6-AFA55811D3CF}" destId="{39C17452-7283-48C8-B655-4A1B0AE98B10}" srcOrd="1" destOrd="0" parTransId="{B0A10437-64A7-464F-B899-DA0BEBD927E1}" sibTransId="{5A2B8253-D9E4-4690-B437-5B020F115222}"/>
    <dgm:cxn modelId="{9443E0BB-CCA9-44B4-B531-6BB66ABCB453}" srcId="{772AEB14-F457-4E03-BDB6-AFA55811D3CF}" destId="{4E2B712D-DBB8-499D-8409-A77186653BAE}" srcOrd="0" destOrd="0" parTransId="{1E299324-0A18-415F-B1AA-C6F730CF4359}" sibTransId="{D1BFCC8B-5BC8-4C4F-BB2D-AB4C9EA2514E}"/>
    <dgm:cxn modelId="{C876EEEF-45C7-4914-B2FF-581F32EF58FF}" srcId="{39C17452-7283-48C8-B655-4A1B0AE98B10}" destId="{C0FAE8EE-4C07-409E-9693-E56AAF6D8356}" srcOrd="2" destOrd="0" parTransId="{C077E8F3-6B19-4EC6-A84B-2F61E3157F71}" sibTransId="{D786B530-9158-4341-BBCA-BB640502E8B1}"/>
    <dgm:cxn modelId="{E7791594-A151-48E4-90D2-3E9C7A8D3A30}" type="presParOf" srcId="{A5ECBA2B-4484-4F49-97B4-0DCDAE0386C5}" destId="{4E369B45-AAD9-4430-96DF-F6B0B0044A3C}" srcOrd="0" destOrd="0" presId="urn:microsoft.com/office/officeart/2018/2/layout/IconLabelDescriptionList"/>
    <dgm:cxn modelId="{BA73DA43-0D05-47CC-8732-9A431711E789}" type="presParOf" srcId="{4E369B45-AAD9-4430-96DF-F6B0B0044A3C}" destId="{266CEEFA-C75C-4099-9AD5-8EC6D5537EB7}" srcOrd="0" destOrd="0" presId="urn:microsoft.com/office/officeart/2018/2/layout/IconLabelDescriptionList"/>
    <dgm:cxn modelId="{CD1CD852-675E-474F-A5C9-895B2ACD2278}" type="presParOf" srcId="{4E369B45-AAD9-4430-96DF-F6B0B0044A3C}" destId="{622FE06E-F4DC-4B97-B8CB-28AA97310E53}" srcOrd="1" destOrd="0" presId="urn:microsoft.com/office/officeart/2018/2/layout/IconLabelDescriptionList"/>
    <dgm:cxn modelId="{EED8F352-C9C2-481E-B2B4-577C3CA99897}" type="presParOf" srcId="{4E369B45-AAD9-4430-96DF-F6B0B0044A3C}" destId="{AB291F9B-87FF-4C26-8343-217CEBFBD295}" srcOrd="2" destOrd="0" presId="urn:microsoft.com/office/officeart/2018/2/layout/IconLabelDescriptionList"/>
    <dgm:cxn modelId="{A04A7A93-5AAF-425D-AD65-3BB3E9334646}" type="presParOf" srcId="{4E369B45-AAD9-4430-96DF-F6B0B0044A3C}" destId="{A285C35A-71E3-4094-89DE-009E9D86B32D}" srcOrd="3" destOrd="0" presId="urn:microsoft.com/office/officeart/2018/2/layout/IconLabelDescriptionList"/>
    <dgm:cxn modelId="{99D190B8-A4A7-438D-BC33-4C5880FF87F9}" type="presParOf" srcId="{4E369B45-AAD9-4430-96DF-F6B0B0044A3C}" destId="{F3F66BB9-A503-4A7E-A5F9-828BB72DD715}" srcOrd="4" destOrd="0" presId="urn:microsoft.com/office/officeart/2018/2/layout/IconLabelDescriptionList"/>
    <dgm:cxn modelId="{EC910E84-C6D4-420D-97EA-14614DA895D7}" type="presParOf" srcId="{A5ECBA2B-4484-4F49-97B4-0DCDAE0386C5}" destId="{E14007D1-B266-4949-ACE3-A642890BE2FB}" srcOrd="1" destOrd="0" presId="urn:microsoft.com/office/officeart/2018/2/layout/IconLabelDescriptionList"/>
    <dgm:cxn modelId="{530BB3AD-13A7-4CF5-8FCE-A012B938040A}" type="presParOf" srcId="{A5ECBA2B-4484-4F49-97B4-0DCDAE0386C5}" destId="{49067D9B-F056-4996-AEB7-959C2096A17C}" srcOrd="2" destOrd="0" presId="urn:microsoft.com/office/officeart/2018/2/layout/IconLabelDescriptionList"/>
    <dgm:cxn modelId="{2F240B38-DE2C-4898-9DEC-BCA2BA1A7F30}" type="presParOf" srcId="{49067D9B-F056-4996-AEB7-959C2096A17C}" destId="{41AF7A76-B082-41F5-AA5C-F4778652FD07}" srcOrd="0" destOrd="0" presId="urn:microsoft.com/office/officeart/2018/2/layout/IconLabelDescriptionList"/>
    <dgm:cxn modelId="{071A2BD2-29D3-427A-B244-D34269008ACC}" type="presParOf" srcId="{49067D9B-F056-4996-AEB7-959C2096A17C}" destId="{23DB247B-4094-4CBB-884A-54531FAD9765}" srcOrd="1" destOrd="0" presId="urn:microsoft.com/office/officeart/2018/2/layout/IconLabelDescriptionList"/>
    <dgm:cxn modelId="{EDB8A241-DF7F-49D3-9513-A98149E82B14}" type="presParOf" srcId="{49067D9B-F056-4996-AEB7-959C2096A17C}" destId="{5ACED557-147B-4C62-A435-85B5CC9BCC43}" srcOrd="2" destOrd="0" presId="urn:microsoft.com/office/officeart/2018/2/layout/IconLabelDescriptionList"/>
    <dgm:cxn modelId="{3AF35831-1A03-4EAF-90B5-3E44EA4692B7}" type="presParOf" srcId="{49067D9B-F056-4996-AEB7-959C2096A17C}" destId="{390F4051-4652-486E-9629-10709B5DAAD3}" srcOrd="3" destOrd="0" presId="urn:microsoft.com/office/officeart/2018/2/layout/IconLabelDescriptionList"/>
    <dgm:cxn modelId="{B0D50178-26E2-41FB-A5A7-20B07D19BF69}" type="presParOf" srcId="{49067D9B-F056-4996-AEB7-959C2096A17C}" destId="{0C7FA292-C39E-4A4F-89A0-44A254F7B5A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FCE5CD-FD5B-421A-8DCE-1351C43E6C1C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D0DD0D0-CEFB-4BCE-BAE6-C6F4D9E5A4E2}">
      <dgm:prSet/>
      <dgm:spPr/>
      <dgm:t>
        <a:bodyPr/>
        <a:lstStyle/>
        <a:p>
          <a:r>
            <a:rPr lang="en-US" b="1" i="0" baseline="0"/>
            <a:t>Title:</a:t>
          </a:r>
          <a:r>
            <a:rPr lang="en-US" b="0" i="0" baseline="0"/>
            <a:t> Circuit &amp; Wiring</a:t>
          </a:r>
          <a:endParaRPr lang="en-US"/>
        </a:p>
      </dgm:t>
    </dgm:pt>
    <dgm:pt modelId="{1820568A-2C03-488F-B1EB-08E4BA12BFC5}" type="parTrans" cxnId="{61B0EF4A-3689-45DC-B08C-50F1916DF633}">
      <dgm:prSet/>
      <dgm:spPr/>
      <dgm:t>
        <a:bodyPr/>
        <a:lstStyle/>
        <a:p>
          <a:endParaRPr lang="en-US"/>
        </a:p>
      </dgm:t>
    </dgm:pt>
    <dgm:pt modelId="{29466129-4999-4B59-ADEB-29368A4F2007}" type="sibTrans" cxnId="{61B0EF4A-3689-45DC-B08C-50F1916DF633}">
      <dgm:prSet/>
      <dgm:spPr/>
      <dgm:t>
        <a:bodyPr/>
        <a:lstStyle/>
        <a:p>
          <a:endParaRPr lang="en-US"/>
        </a:p>
      </dgm:t>
    </dgm:pt>
    <dgm:pt modelId="{A601DA2D-20DC-482F-850C-D157E8AACE93}">
      <dgm:prSet/>
      <dgm:spPr/>
      <dgm:t>
        <a:bodyPr/>
        <a:lstStyle/>
        <a:p>
          <a:r>
            <a:rPr lang="en-US" b="1" i="0" baseline="0"/>
            <a:t>Power Logic:</a:t>
          </a:r>
          <a:endParaRPr lang="en-US"/>
        </a:p>
      </dgm:t>
    </dgm:pt>
    <dgm:pt modelId="{684D46E3-5E98-4524-B821-918F474FB1DC}" type="parTrans" cxnId="{B0F1C7C6-D31D-4724-BEC1-DD2F90D2EF39}">
      <dgm:prSet/>
      <dgm:spPr/>
      <dgm:t>
        <a:bodyPr/>
        <a:lstStyle/>
        <a:p>
          <a:endParaRPr lang="en-US"/>
        </a:p>
      </dgm:t>
    </dgm:pt>
    <dgm:pt modelId="{65D5E4BB-FE5A-4BEB-8F72-4426C4AE800F}" type="sibTrans" cxnId="{B0F1C7C6-D31D-4724-BEC1-DD2F90D2EF39}">
      <dgm:prSet/>
      <dgm:spPr/>
      <dgm:t>
        <a:bodyPr/>
        <a:lstStyle/>
        <a:p>
          <a:endParaRPr lang="en-US"/>
        </a:p>
      </dgm:t>
    </dgm:pt>
    <dgm:pt modelId="{D2215CDE-3D20-4C52-80CF-51C856706CBF}">
      <dgm:prSet/>
      <dgm:spPr/>
      <dgm:t>
        <a:bodyPr/>
        <a:lstStyle/>
        <a:p>
          <a:r>
            <a:rPr lang="en-US" b="0" i="0" baseline="0"/>
            <a:t>LM2596 regulates 9V battery $\rightarrow$ 5V for the Fan.</a:t>
          </a:r>
          <a:endParaRPr lang="en-US"/>
        </a:p>
      </dgm:t>
    </dgm:pt>
    <dgm:pt modelId="{81CAF407-9286-4384-989B-F93C5E02E565}" type="parTrans" cxnId="{B941B543-DF1E-4522-85C4-F5F5FAD3104B}">
      <dgm:prSet/>
      <dgm:spPr/>
      <dgm:t>
        <a:bodyPr/>
        <a:lstStyle/>
        <a:p>
          <a:endParaRPr lang="en-US"/>
        </a:p>
      </dgm:t>
    </dgm:pt>
    <dgm:pt modelId="{5371553A-9157-467A-8CE6-10BE110D0C84}" type="sibTrans" cxnId="{B941B543-DF1E-4522-85C4-F5F5FAD3104B}">
      <dgm:prSet/>
      <dgm:spPr/>
      <dgm:t>
        <a:bodyPr/>
        <a:lstStyle/>
        <a:p>
          <a:endParaRPr lang="en-US"/>
        </a:p>
      </dgm:t>
    </dgm:pt>
    <dgm:pt modelId="{80F6AF1F-0F75-4BC8-A44B-C3E3A9BB3203}">
      <dgm:prSet/>
      <dgm:spPr/>
      <dgm:t>
        <a:bodyPr/>
        <a:lstStyle/>
        <a:p>
          <a:r>
            <a:rPr lang="en-US" b="0" i="0" baseline="0"/>
            <a:t>INA219 sensor is placed in series with the Fan ("High-Side" measurement).</a:t>
          </a:r>
          <a:endParaRPr lang="en-US"/>
        </a:p>
      </dgm:t>
    </dgm:pt>
    <dgm:pt modelId="{9449513F-EABC-432D-A33F-3F79C52D4E64}" type="parTrans" cxnId="{3DB8BEA4-9FB7-4AA8-B486-801CA7F16BBB}">
      <dgm:prSet/>
      <dgm:spPr/>
      <dgm:t>
        <a:bodyPr/>
        <a:lstStyle/>
        <a:p>
          <a:endParaRPr lang="en-US"/>
        </a:p>
      </dgm:t>
    </dgm:pt>
    <dgm:pt modelId="{D21B2B7E-1A55-426D-A5A8-91EE460D519C}" type="sibTrans" cxnId="{3DB8BEA4-9FB7-4AA8-B486-801CA7F16BBB}">
      <dgm:prSet/>
      <dgm:spPr/>
      <dgm:t>
        <a:bodyPr/>
        <a:lstStyle/>
        <a:p>
          <a:endParaRPr lang="en-US"/>
        </a:p>
      </dgm:t>
    </dgm:pt>
    <dgm:pt modelId="{4F9485BA-641F-454D-95B1-DCC5AD581C55}">
      <dgm:prSet/>
      <dgm:spPr/>
      <dgm:t>
        <a:bodyPr/>
        <a:lstStyle/>
        <a:p>
          <a:r>
            <a:rPr lang="en-US" b="1" i="0" baseline="0"/>
            <a:t>Pin Mapping:</a:t>
          </a:r>
          <a:endParaRPr lang="en-US"/>
        </a:p>
      </dgm:t>
    </dgm:pt>
    <dgm:pt modelId="{11FE373D-1230-471F-87CA-B9E322811E6D}" type="parTrans" cxnId="{1DAD08CA-4AE7-4A00-94EF-8F3998B3BE9B}">
      <dgm:prSet/>
      <dgm:spPr/>
      <dgm:t>
        <a:bodyPr/>
        <a:lstStyle/>
        <a:p>
          <a:endParaRPr lang="en-US"/>
        </a:p>
      </dgm:t>
    </dgm:pt>
    <dgm:pt modelId="{58D7DF22-3AAA-4781-A58A-F87D6284B02F}" type="sibTrans" cxnId="{1DAD08CA-4AE7-4A00-94EF-8F3998B3BE9B}">
      <dgm:prSet/>
      <dgm:spPr/>
      <dgm:t>
        <a:bodyPr/>
        <a:lstStyle/>
        <a:p>
          <a:endParaRPr lang="en-US"/>
        </a:p>
      </dgm:t>
    </dgm:pt>
    <dgm:pt modelId="{7CDE64A1-7A0C-462B-BA1E-F3BE402F9A13}">
      <dgm:prSet/>
      <dgm:spPr/>
      <dgm:t>
        <a:bodyPr/>
        <a:lstStyle/>
        <a:p>
          <a:r>
            <a:rPr lang="en-US" b="1" i="0" baseline="0"/>
            <a:t>I2C (INA219):</a:t>
          </a:r>
          <a:r>
            <a:rPr lang="en-US" b="0" i="0" baseline="0"/>
            <a:t> SDA $\rightarrow$ GPIO 21, SCL $\rightarrow$ GPIO 22.</a:t>
          </a:r>
          <a:endParaRPr lang="en-US"/>
        </a:p>
      </dgm:t>
    </dgm:pt>
    <dgm:pt modelId="{94C09D48-5351-4A01-9A1A-4BD26F6EE21F}" type="parTrans" cxnId="{4CD48372-4812-47ED-B382-CE4BD20DED00}">
      <dgm:prSet/>
      <dgm:spPr/>
      <dgm:t>
        <a:bodyPr/>
        <a:lstStyle/>
        <a:p>
          <a:endParaRPr lang="en-US"/>
        </a:p>
      </dgm:t>
    </dgm:pt>
    <dgm:pt modelId="{B3963043-3B06-4676-8423-057D62E31233}" type="sibTrans" cxnId="{4CD48372-4812-47ED-B382-CE4BD20DED00}">
      <dgm:prSet/>
      <dgm:spPr/>
      <dgm:t>
        <a:bodyPr/>
        <a:lstStyle/>
        <a:p>
          <a:endParaRPr lang="en-US"/>
        </a:p>
      </dgm:t>
    </dgm:pt>
    <dgm:pt modelId="{96C8CBB1-A7B1-40B5-9B0D-5A5D9DFEE4F3}">
      <dgm:prSet/>
      <dgm:spPr/>
      <dgm:t>
        <a:bodyPr/>
        <a:lstStyle/>
        <a:p>
          <a:r>
            <a:rPr lang="en-US" b="1" i="0" baseline="0"/>
            <a:t>DHT11:</a:t>
          </a:r>
          <a:r>
            <a:rPr lang="en-US" b="0" i="0" baseline="0"/>
            <a:t> Data $\rightarrow$ GPIO 18.</a:t>
          </a:r>
          <a:endParaRPr lang="en-US"/>
        </a:p>
      </dgm:t>
    </dgm:pt>
    <dgm:pt modelId="{F181FDFA-9537-4A60-9FEF-A601DBEA5240}" type="parTrans" cxnId="{2F84F489-D816-4482-875C-550A5EF8A842}">
      <dgm:prSet/>
      <dgm:spPr/>
      <dgm:t>
        <a:bodyPr/>
        <a:lstStyle/>
        <a:p>
          <a:endParaRPr lang="en-US"/>
        </a:p>
      </dgm:t>
    </dgm:pt>
    <dgm:pt modelId="{4D2989DD-7094-424E-ACFC-1C8F57FBCEE8}" type="sibTrans" cxnId="{2F84F489-D816-4482-875C-550A5EF8A842}">
      <dgm:prSet/>
      <dgm:spPr/>
      <dgm:t>
        <a:bodyPr/>
        <a:lstStyle/>
        <a:p>
          <a:endParaRPr lang="en-US"/>
        </a:p>
      </dgm:t>
    </dgm:pt>
    <dgm:pt modelId="{8E64854B-E5F1-4106-A2D8-8AEFE9762D3E}">
      <dgm:prSet/>
      <dgm:spPr/>
      <dgm:t>
        <a:bodyPr/>
        <a:lstStyle/>
        <a:p>
          <a:r>
            <a:rPr lang="en-US" b="1" i="0" baseline="0"/>
            <a:t>Power:</a:t>
          </a:r>
          <a:r>
            <a:rPr lang="en-US" b="0" i="0" baseline="0"/>
            <a:t> ESP32 powered via USB for stability; Fan powered via Battery.</a:t>
          </a:r>
          <a:endParaRPr lang="en-US"/>
        </a:p>
      </dgm:t>
    </dgm:pt>
    <dgm:pt modelId="{9D62E58B-382B-44C3-BE0C-4F59111C7DA5}" type="parTrans" cxnId="{BA1BACB5-2C82-4AD0-A724-82733A31A7F4}">
      <dgm:prSet/>
      <dgm:spPr/>
      <dgm:t>
        <a:bodyPr/>
        <a:lstStyle/>
        <a:p>
          <a:endParaRPr lang="en-US"/>
        </a:p>
      </dgm:t>
    </dgm:pt>
    <dgm:pt modelId="{E5C59FA0-1BF4-42D0-952D-0ACE305A773D}" type="sibTrans" cxnId="{BA1BACB5-2C82-4AD0-A724-82733A31A7F4}">
      <dgm:prSet/>
      <dgm:spPr/>
      <dgm:t>
        <a:bodyPr/>
        <a:lstStyle/>
        <a:p>
          <a:endParaRPr lang="en-US"/>
        </a:p>
      </dgm:t>
    </dgm:pt>
    <dgm:pt modelId="{87DC2C3F-F233-44BE-A5AD-A6A95D7ED231}" type="pres">
      <dgm:prSet presAssocID="{5BFCE5CD-FD5B-421A-8DCE-1351C43E6C1C}" presName="linear" presStyleCnt="0">
        <dgm:presLayoutVars>
          <dgm:dir/>
          <dgm:animLvl val="lvl"/>
          <dgm:resizeHandles val="exact"/>
        </dgm:presLayoutVars>
      </dgm:prSet>
      <dgm:spPr/>
    </dgm:pt>
    <dgm:pt modelId="{9CB9F78D-D5FF-4EEF-BA42-23C808D55AAA}" type="pres">
      <dgm:prSet presAssocID="{6D0DD0D0-CEFB-4BCE-BAE6-C6F4D9E5A4E2}" presName="parentLin" presStyleCnt="0"/>
      <dgm:spPr/>
    </dgm:pt>
    <dgm:pt modelId="{877D0FBB-1507-4D80-AF3D-F714C993D940}" type="pres">
      <dgm:prSet presAssocID="{6D0DD0D0-CEFB-4BCE-BAE6-C6F4D9E5A4E2}" presName="parentLeftMargin" presStyleLbl="node1" presStyleIdx="0" presStyleCnt="3"/>
      <dgm:spPr/>
    </dgm:pt>
    <dgm:pt modelId="{83E6BAB7-F5FF-4214-816C-26E98FF3192E}" type="pres">
      <dgm:prSet presAssocID="{6D0DD0D0-CEFB-4BCE-BAE6-C6F4D9E5A4E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33DE8B4-D5B6-4E14-A101-96F246A17EE3}" type="pres">
      <dgm:prSet presAssocID="{6D0DD0D0-CEFB-4BCE-BAE6-C6F4D9E5A4E2}" presName="negativeSpace" presStyleCnt="0"/>
      <dgm:spPr/>
    </dgm:pt>
    <dgm:pt modelId="{F17BA2E3-1482-43D4-AE1E-D6B41456E927}" type="pres">
      <dgm:prSet presAssocID="{6D0DD0D0-CEFB-4BCE-BAE6-C6F4D9E5A4E2}" presName="childText" presStyleLbl="conFgAcc1" presStyleIdx="0" presStyleCnt="3">
        <dgm:presLayoutVars>
          <dgm:bulletEnabled val="1"/>
        </dgm:presLayoutVars>
      </dgm:prSet>
      <dgm:spPr/>
    </dgm:pt>
    <dgm:pt modelId="{2F62621E-86FC-4447-8921-A28D504B6672}" type="pres">
      <dgm:prSet presAssocID="{29466129-4999-4B59-ADEB-29368A4F2007}" presName="spaceBetweenRectangles" presStyleCnt="0"/>
      <dgm:spPr/>
    </dgm:pt>
    <dgm:pt modelId="{9CFA6106-7DC2-4C0B-9DF6-41D728C5C6B8}" type="pres">
      <dgm:prSet presAssocID="{A601DA2D-20DC-482F-850C-D157E8AACE93}" presName="parentLin" presStyleCnt="0"/>
      <dgm:spPr/>
    </dgm:pt>
    <dgm:pt modelId="{73C9C062-7D21-429D-8EB3-9886B38D8907}" type="pres">
      <dgm:prSet presAssocID="{A601DA2D-20DC-482F-850C-D157E8AACE93}" presName="parentLeftMargin" presStyleLbl="node1" presStyleIdx="0" presStyleCnt="3"/>
      <dgm:spPr/>
    </dgm:pt>
    <dgm:pt modelId="{61A296DB-8254-4742-A639-2ECBBF398098}" type="pres">
      <dgm:prSet presAssocID="{A601DA2D-20DC-482F-850C-D157E8AACE9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DF59688-CD92-43FB-97F6-828A387D6B15}" type="pres">
      <dgm:prSet presAssocID="{A601DA2D-20DC-482F-850C-D157E8AACE93}" presName="negativeSpace" presStyleCnt="0"/>
      <dgm:spPr/>
    </dgm:pt>
    <dgm:pt modelId="{0A5A601B-48D1-4E11-A996-8EB467873CF2}" type="pres">
      <dgm:prSet presAssocID="{A601DA2D-20DC-482F-850C-D157E8AACE93}" presName="childText" presStyleLbl="conFgAcc1" presStyleIdx="1" presStyleCnt="3">
        <dgm:presLayoutVars>
          <dgm:bulletEnabled val="1"/>
        </dgm:presLayoutVars>
      </dgm:prSet>
      <dgm:spPr/>
    </dgm:pt>
    <dgm:pt modelId="{80D8E964-2A89-42AA-AF1B-70269C2099B4}" type="pres">
      <dgm:prSet presAssocID="{65D5E4BB-FE5A-4BEB-8F72-4426C4AE800F}" presName="spaceBetweenRectangles" presStyleCnt="0"/>
      <dgm:spPr/>
    </dgm:pt>
    <dgm:pt modelId="{8AF67637-44B5-4895-85F1-0451C3797E4B}" type="pres">
      <dgm:prSet presAssocID="{4F9485BA-641F-454D-95B1-DCC5AD581C55}" presName="parentLin" presStyleCnt="0"/>
      <dgm:spPr/>
    </dgm:pt>
    <dgm:pt modelId="{ACF962D3-C100-4AA9-9FBB-00606C94F6DD}" type="pres">
      <dgm:prSet presAssocID="{4F9485BA-641F-454D-95B1-DCC5AD581C55}" presName="parentLeftMargin" presStyleLbl="node1" presStyleIdx="1" presStyleCnt="3"/>
      <dgm:spPr/>
    </dgm:pt>
    <dgm:pt modelId="{4D0A821D-E6E3-4508-8C9F-6F92724F2673}" type="pres">
      <dgm:prSet presAssocID="{4F9485BA-641F-454D-95B1-DCC5AD581C5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120EDF1-5086-48D8-9638-58E0CA32E25B}" type="pres">
      <dgm:prSet presAssocID="{4F9485BA-641F-454D-95B1-DCC5AD581C55}" presName="negativeSpace" presStyleCnt="0"/>
      <dgm:spPr/>
    </dgm:pt>
    <dgm:pt modelId="{4812AC28-FDF4-4ADD-A89C-738E8D6659BD}" type="pres">
      <dgm:prSet presAssocID="{4F9485BA-641F-454D-95B1-DCC5AD581C5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0B91315-042B-4B2B-AA3B-CD9B94A59693}" type="presOf" srcId="{96C8CBB1-A7B1-40B5-9B0D-5A5D9DFEE4F3}" destId="{4812AC28-FDF4-4ADD-A89C-738E8D6659BD}" srcOrd="0" destOrd="1" presId="urn:microsoft.com/office/officeart/2005/8/layout/list1"/>
    <dgm:cxn modelId="{3FDCA126-E742-4A31-A0FF-C0928D6A0B88}" type="presOf" srcId="{4F9485BA-641F-454D-95B1-DCC5AD581C55}" destId="{ACF962D3-C100-4AA9-9FBB-00606C94F6DD}" srcOrd="0" destOrd="0" presId="urn:microsoft.com/office/officeart/2005/8/layout/list1"/>
    <dgm:cxn modelId="{B941B543-DF1E-4522-85C4-F5F5FAD3104B}" srcId="{A601DA2D-20DC-482F-850C-D157E8AACE93}" destId="{D2215CDE-3D20-4C52-80CF-51C856706CBF}" srcOrd="0" destOrd="0" parTransId="{81CAF407-9286-4384-989B-F93C5E02E565}" sibTransId="{5371553A-9157-467A-8CE6-10BE110D0C84}"/>
    <dgm:cxn modelId="{A03AC067-11F2-4390-ADB1-DEA2EDA6767E}" type="presOf" srcId="{D2215CDE-3D20-4C52-80CF-51C856706CBF}" destId="{0A5A601B-48D1-4E11-A996-8EB467873CF2}" srcOrd="0" destOrd="0" presId="urn:microsoft.com/office/officeart/2005/8/layout/list1"/>
    <dgm:cxn modelId="{61B0EF4A-3689-45DC-B08C-50F1916DF633}" srcId="{5BFCE5CD-FD5B-421A-8DCE-1351C43E6C1C}" destId="{6D0DD0D0-CEFB-4BCE-BAE6-C6F4D9E5A4E2}" srcOrd="0" destOrd="0" parTransId="{1820568A-2C03-488F-B1EB-08E4BA12BFC5}" sibTransId="{29466129-4999-4B59-ADEB-29368A4F2007}"/>
    <dgm:cxn modelId="{20F5524B-63DE-4488-9DD2-EF7B25C2D46E}" type="presOf" srcId="{6D0DD0D0-CEFB-4BCE-BAE6-C6F4D9E5A4E2}" destId="{83E6BAB7-F5FF-4214-816C-26E98FF3192E}" srcOrd="1" destOrd="0" presId="urn:microsoft.com/office/officeart/2005/8/layout/list1"/>
    <dgm:cxn modelId="{4CD48372-4812-47ED-B382-CE4BD20DED00}" srcId="{4F9485BA-641F-454D-95B1-DCC5AD581C55}" destId="{7CDE64A1-7A0C-462B-BA1E-F3BE402F9A13}" srcOrd="0" destOrd="0" parTransId="{94C09D48-5351-4A01-9A1A-4BD26F6EE21F}" sibTransId="{B3963043-3B06-4676-8423-057D62E31233}"/>
    <dgm:cxn modelId="{21296475-B52E-48C3-BCCE-41C2A4CF7FAB}" type="presOf" srcId="{7CDE64A1-7A0C-462B-BA1E-F3BE402F9A13}" destId="{4812AC28-FDF4-4ADD-A89C-738E8D6659BD}" srcOrd="0" destOrd="0" presId="urn:microsoft.com/office/officeart/2005/8/layout/list1"/>
    <dgm:cxn modelId="{B1F9167F-899D-486C-9821-723F40F7A726}" type="presOf" srcId="{4F9485BA-641F-454D-95B1-DCC5AD581C55}" destId="{4D0A821D-E6E3-4508-8C9F-6F92724F2673}" srcOrd="1" destOrd="0" presId="urn:microsoft.com/office/officeart/2005/8/layout/list1"/>
    <dgm:cxn modelId="{A5760982-FF73-44F8-ABEC-51139F536BDC}" type="presOf" srcId="{A601DA2D-20DC-482F-850C-D157E8AACE93}" destId="{61A296DB-8254-4742-A639-2ECBBF398098}" srcOrd="1" destOrd="0" presId="urn:microsoft.com/office/officeart/2005/8/layout/list1"/>
    <dgm:cxn modelId="{2F84F489-D816-4482-875C-550A5EF8A842}" srcId="{4F9485BA-641F-454D-95B1-DCC5AD581C55}" destId="{96C8CBB1-A7B1-40B5-9B0D-5A5D9DFEE4F3}" srcOrd="1" destOrd="0" parTransId="{F181FDFA-9537-4A60-9FEF-A601DBEA5240}" sibTransId="{4D2989DD-7094-424E-ACFC-1C8F57FBCEE8}"/>
    <dgm:cxn modelId="{A1709097-FBA0-4EFE-AD4D-0D57C74A0EE2}" type="presOf" srcId="{6D0DD0D0-CEFB-4BCE-BAE6-C6F4D9E5A4E2}" destId="{877D0FBB-1507-4D80-AF3D-F714C993D940}" srcOrd="0" destOrd="0" presId="urn:microsoft.com/office/officeart/2005/8/layout/list1"/>
    <dgm:cxn modelId="{3DB8BEA4-9FB7-4AA8-B486-801CA7F16BBB}" srcId="{A601DA2D-20DC-482F-850C-D157E8AACE93}" destId="{80F6AF1F-0F75-4BC8-A44B-C3E3A9BB3203}" srcOrd="1" destOrd="0" parTransId="{9449513F-EABC-432D-A33F-3F79C52D4E64}" sibTransId="{D21B2B7E-1A55-426D-A5A8-91EE460D519C}"/>
    <dgm:cxn modelId="{70E73EA5-5628-4A3D-8620-6122EE35F756}" type="presOf" srcId="{5BFCE5CD-FD5B-421A-8DCE-1351C43E6C1C}" destId="{87DC2C3F-F233-44BE-A5AD-A6A95D7ED231}" srcOrd="0" destOrd="0" presId="urn:microsoft.com/office/officeart/2005/8/layout/list1"/>
    <dgm:cxn modelId="{BA1BACB5-2C82-4AD0-A724-82733A31A7F4}" srcId="{4F9485BA-641F-454D-95B1-DCC5AD581C55}" destId="{8E64854B-E5F1-4106-A2D8-8AEFE9762D3E}" srcOrd="2" destOrd="0" parTransId="{9D62E58B-382B-44C3-BE0C-4F59111C7DA5}" sibTransId="{E5C59FA0-1BF4-42D0-952D-0ACE305A773D}"/>
    <dgm:cxn modelId="{B0F1C7C6-D31D-4724-BEC1-DD2F90D2EF39}" srcId="{5BFCE5CD-FD5B-421A-8DCE-1351C43E6C1C}" destId="{A601DA2D-20DC-482F-850C-D157E8AACE93}" srcOrd="1" destOrd="0" parTransId="{684D46E3-5E98-4524-B821-918F474FB1DC}" sibTransId="{65D5E4BB-FE5A-4BEB-8F72-4426C4AE800F}"/>
    <dgm:cxn modelId="{1DAD08CA-4AE7-4A00-94EF-8F3998B3BE9B}" srcId="{5BFCE5CD-FD5B-421A-8DCE-1351C43E6C1C}" destId="{4F9485BA-641F-454D-95B1-DCC5AD581C55}" srcOrd="2" destOrd="0" parTransId="{11FE373D-1230-471F-87CA-B9E322811E6D}" sibTransId="{58D7DF22-3AAA-4781-A58A-F87D6284B02F}"/>
    <dgm:cxn modelId="{B0B6A0CF-ED39-4DF4-98AE-1E27156D01F8}" type="presOf" srcId="{8E64854B-E5F1-4106-A2D8-8AEFE9762D3E}" destId="{4812AC28-FDF4-4ADD-A89C-738E8D6659BD}" srcOrd="0" destOrd="2" presId="urn:microsoft.com/office/officeart/2005/8/layout/list1"/>
    <dgm:cxn modelId="{260F78D9-A5FA-4F8F-AC49-099A74D56A21}" type="presOf" srcId="{A601DA2D-20DC-482F-850C-D157E8AACE93}" destId="{73C9C062-7D21-429D-8EB3-9886B38D8907}" srcOrd="0" destOrd="0" presId="urn:microsoft.com/office/officeart/2005/8/layout/list1"/>
    <dgm:cxn modelId="{AA02B7D9-70F2-4ECB-8AB4-1772D56FF639}" type="presOf" srcId="{80F6AF1F-0F75-4BC8-A44B-C3E3A9BB3203}" destId="{0A5A601B-48D1-4E11-A996-8EB467873CF2}" srcOrd="0" destOrd="1" presId="urn:microsoft.com/office/officeart/2005/8/layout/list1"/>
    <dgm:cxn modelId="{91FF3539-AA25-4A9B-964E-6246B675DF96}" type="presParOf" srcId="{87DC2C3F-F233-44BE-A5AD-A6A95D7ED231}" destId="{9CB9F78D-D5FF-4EEF-BA42-23C808D55AAA}" srcOrd="0" destOrd="0" presId="urn:microsoft.com/office/officeart/2005/8/layout/list1"/>
    <dgm:cxn modelId="{C8745E34-DB07-4715-9E29-600CD4EB2482}" type="presParOf" srcId="{9CB9F78D-D5FF-4EEF-BA42-23C808D55AAA}" destId="{877D0FBB-1507-4D80-AF3D-F714C993D940}" srcOrd="0" destOrd="0" presId="urn:microsoft.com/office/officeart/2005/8/layout/list1"/>
    <dgm:cxn modelId="{C351FE91-5A3B-45EE-9F8C-F4E82CF1F0EA}" type="presParOf" srcId="{9CB9F78D-D5FF-4EEF-BA42-23C808D55AAA}" destId="{83E6BAB7-F5FF-4214-816C-26E98FF3192E}" srcOrd="1" destOrd="0" presId="urn:microsoft.com/office/officeart/2005/8/layout/list1"/>
    <dgm:cxn modelId="{B60CE84B-7004-430C-B6F4-DAF8F44305A2}" type="presParOf" srcId="{87DC2C3F-F233-44BE-A5AD-A6A95D7ED231}" destId="{133DE8B4-D5B6-4E14-A101-96F246A17EE3}" srcOrd="1" destOrd="0" presId="urn:microsoft.com/office/officeart/2005/8/layout/list1"/>
    <dgm:cxn modelId="{27B202EB-5F3C-4D02-ABDF-7D3818966AA2}" type="presParOf" srcId="{87DC2C3F-F233-44BE-A5AD-A6A95D7ED231}" destId="{F17BA2E3-1482-43D4-AE1E-D6B41456E927}" srcOrd="2" destOrd="0" presId="urn:microsoft.com/office/officeart/2005/8/layout/list1"/>
    <dgm:cxn modelId="{76F9B5D9-F4DA-4C6D-A14B-91642FEF23D5}" type="presParOf" srcId="{87DC2C3F-F233-44BE-A5AD-A6A95D7ED231}" destId="{2F62621E-86FC-4447-8921-A28D504B6672}" srcOrd="3" destOrd="0" presId="urn:microsoft.com/office/officeart/2005/8/layout/list1"/>
    <dgm:cxn modelId="{1B57EDBB-D1AA-40F8-AE2D-6C3057C551C9}" type="presParOf" srcId="{87DC2C3F-F233-44BE-A5AD-A6A95D7ED231}" destId="{9CFA6106-7DC2-4C0B-9DF6-41D728C5C6B8}" srcOrd="4" destOrd="0" presId="urn:microsoft.com/office/officeart/2005/8/layout/list1"/>
    <dgm:cxn modelId="{6F98B61A-C55D-4852-B5D3-707CBF01563D}" type="presParOf" srcId="{9CFA6106-7DC2-4C0B-9DF6-41D728C5C6B8}" destId="{73C9C062-7D21-429D-8EB3-9886B38D8907}" srcOrd="0" destOrd="0" presId="urn:microsoft.com/office/officeart/2005/8/layout/list1"/>
    <dgm:cxn modelId="{6D9FDE70-0D9F-4827-B106-7E63CF71A0AC}" type="presParOf" srcId="{9CFA6106-7DC2-4C0B-9DF6-41D728C5C6B8}" destId="{61A296DB-8254-4742-A639-2ECBBF398098}" srcOrd="1" destOrd="0" presId="urn:microsoft.com/office/officeart/2005/8/layout/list1"/>
    <dgm:cxn modelId="{CC0DC6B6-DE6A-4FE2-AFA1-471501828269}" type="presParOf" srcId="{87DC2C3F-F233-44BE-A5AD-A6A95D7ED231}" destId="{6DF59688-CD92-43FB-97F6-828A387D6B15}" srcOrd="5" destOrd="0" presId="urn:microsoft.com/office/officeart/2005/8/layout/list1"/>
    <dgm:cxn modelId="{0F440627-801C-4F76-855D-3D97BCC4B116}" type="presParOf" srcId="{87DC2C3F-F233-44BE-A5AD-A6A95D7ED231}" destId="{0A5A601B-48D1-4E11-A996-8EB467873CF2}" srcOrd="6" destOrd="0" presId="urn:microsoft.com/office/officeart/2005/8/layout/list1"/>
    <dgm:cxn modelId="{B3260BD6-C253-4E8F-82E0-E1198E306C8C}" type="presParOf" srcId="{87DC2C3F-F233-44BE-A5AD-A6A95D7ED231}" destId="{80D8E964-2A89-42AA-AF1B-70269C2099B4}" srcOrd="7" destOrd="0" presId="urn:microsoft.com/office/officeart/2005/8/layout/list1"/>
    <dgm:cxn modelId="{52C0A4A7-2054-4376-8192-3A5054FFDA7C}" type="presParOf" srcId="{87DC2C3F-F233-44BE-A5AD-A6A95D7ED231}" destId="{8AF67637-44B5-4895-85F1-0451C3797E4B}" srcOrd="8" destOrd="0" presId="urn:microsoft.com/office/officeart/2005/8/layout/list1"/>
    <dgm:cxn modelId="{59BF3B19-A62E-455E-A30B-F09FED98A129}" type="presParOf" srcId="{8AF67637-44B5-4895-85F1-0451C3797E4B}" destId="{ACF962D3-C100-4AA9-9FBB-00606C94F6DD}" srcOrd="0" destOrd="0" presId="urn:microsoft.com/office/officeart/2005/8/layout/list1"/>
    <dgm:cxn modelId="{0D923618-08E1-4FC8-A153-AF1FEC37FEB9}" type="presParOf" srcId="{8AF67637-44B5-4895-85F1-0451C3797E4B}" destId="{4D0A821D-E6E3-4508-8C9F-6F92724F2673}" srcOrd="1" destOrd="0" presId="urn:microsoft.com/office/officeart/2005/8/layout/list1"/>
    <dgm:cxn modelId="{F2CD9638-8D3C-45AC-8286-F5B7CC698087}" type="presParOf" srcId="{87DC2C3F-F233-44BE-A5AD-A6A95D7ED231}" destId="{E120EDF1-5086-48D8-9638-58E0CA32E25B}" srcOrd="9" destOrd="0" presId="urn:microsoft.com/office/officeart/2005/8/layout/list1"/>
    <dgm:cxn modelId="{F85F1042-B87B-4151-8150-34AB2F0D8388}" type="presParOf" srcId="{87DC2C3F-F233-44BE-A5AD-A6A95D7ED231}" destId="{4812AC28-FDF4-4ADD-A89C-738E8D6659BD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6CEEFA-C75C-4099-9AD5-8EC6D5537EB7}">
      <dsp:nvSpPr>
        <dsp:cNvPr id="0" name=""/>
        <dsp:cNvSpPr/>
      </dsp:nvSpPr>
      <dsp:spPr>
        <a:xfrm>
          <a:off x="372300" y="288954"/>
          <a:ext cx="1510523" cy="12526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291F9B-87FF-4C26-8343-217CEBFBD295}">
      <dsp:nvSpPr>
        <dsp:cNvPr id="0" name=""/>
        <dsp:cNvSpPr/>
      </dsp:nvSpPr>
      <dsp:spPr>
        <a:xfrm>
          <a:off x="372300" y="1662272"/>
          <a:ext cx="4315781" cy="5368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b="1" kern="1200"/>
            <a:t>Title:</a:t>
          </a:r>
          <a:r>
            <a:rPr lang="en-US" sz="2500" kern="1200"/>
            <a:t> How the System Connects</a:t>
          </a:r>
        </a:p>
      </dsp:txBody>
      <dsp:txXfrm>
        <a:off x="372300" y="1662272"/>
        <a:ext cx="4315781" cy="536837"/>
      </dsp:txXfrm>
    </dsp:sp>
    <dsp:sp modelId="{F3F66BB9-A503-4A7E-A5F9-828BB72DD715}">
      <dsp:nvSpPr>
        <dsp:cNvPr id="0" name=""/>
        <dsp:cNvSpPr/>
      </dsp:nvSpPr>
      <dsp:spPr>
        <a:xfrm>
          <a:off x="372300" y="2255248"/>
          <a:ext cx="4315781" cy="840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AF7A76-B082-41F5-AA5C-F4778652FD07}">
      <dsp:nvSpPr>
        <dsp:cNvPr id="0" name=""/>
        <dsp:cNvSpPr/>
      </dsp:nvSpPr>
      <dsp:spPr>
        <a:xfrm>
          <a:off x="5443343" y="288954"/>
          <a:ext cx="1510523" cy="12526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CED557-147B-4C62-A435-85B5CC9BCC43}">
      <dsp:nvSpPr>
        <dsp:cNvPr id="0" name=""/>
        <dsp:cNvSpPr/>
      </dsp:nvSpPr>
      <dsp:spPr>
        <a:xfrm>
          <a:off x="5443343" y="1662272"/>
          <a:ext cx="4315781" cy="5368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b="1" kern="1200"/>
            <a:t>The 4 Pillars:</a:t>
          </a:r>
          <a:endParaRPr lang="en-US" sz="2500" kern="1200"/>
        </a:p>
      </dsp:txBody>
      <dsp:txXfrm>
        <a:off x="5443343" y="1662272"/>
        <a:ext cx="4315781" cy="536837"/>
      </dsp:txXfrm>
    </dsp:sp>
    <dsp:sp modelId="{0C7FA292-C39E-4A4F-89A0-44A254F7B5AE}">
      <dsp:nvSpPr>
        <dsp:cNvPr id="0" name=""/>
        <dsp:cNvSpPr/>
      </dsp:nvSpPr>
      <dsp:spPr>
        <a:xfrm>
          <a:off x="5443343" y="2255248"/>
          <a:ext cx="4315781" cy="840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Hardware (Edge):</a:t>
          </a:r>
          <a:r>
            <a:rPr lang="en-US" sz="1700" kern="1200"/>
            <a:t> ESP32 + Sensors (INA219, DHT11).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Communication:</a:t>
          </a:r>
          <a:r>
            <a:rPr lang="en-US" sz="1700" kern="1200"/>
            <a:t> Wi-Fi (HTTP POST Requests).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Backend (Server):</a:t>
          </a:r>
          <a:r>
            <a:rPr lang="en-US" sz="1700" kern="1200"/>
            <a:t> Python (FastAPI) + Supabase (Database).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Frontend (User):</a:t>
          </a:r>
          <a:r>
            <a:rPr lang="en-US" sz="1700" kern="1200"/>
            <a:t> React.js Dashboard.</a:t>
          </a:r>
        </a:p>
      </dsp:txBody>
      <dsp:txXfrm>
        <a:off x="5443343" y="2255248"/>
        <a:ext cx="4315781" cy="8405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7BA2E3-1482-43D4-AE1E-D6B41456E927}">
      <dsp:nvSpPr>
        <dsp:cNvPr id="0" name=""/>
        <dsp:cNvSpPr/>
      </dsp:nvSpPr>
      <dsp:spPr>
        <a:xfrm>
          <a:off x="0" y="479231"/>
          <a:ext cx="6545199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E6BAB7-F5FF-4214-816C-26E98FF3192E}">
      <dsp:nvSpPr>
        <dsp:cNvPr id="0" name=""/>
        <dsp:cNvSpPr/>
      </dsp:nvSpPr>
      <dsp:spPr>
        <a:xfrm>
          <a:off x="327259" y="228311"/>
          <a:ext cx="4581639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3175" tIns="0" rIns="17317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Title:</a:t>
          </a:r>
          <a:r>
            <a:rPr lang="en-US" sz="1700" b="0" i="0" kern="1200" baseline="0"/>
            <a:t> Circuit &amp; Wiring</a:t>
          </a:r>
          <a:endParaRPr lang="en-US" sz="1700" kern="1200"/>
        </a:p>
      </dsp:txBody>
      <dsp:txXfrm>
        <a:off x="351757" y="252809"/>
        <a:ext cx="4532643" cy="452844"/>
      </dsp:txXfrm>
    </dsp:sp>
    <dsp:sp modelId="{0A5A601B-48D1-4E11-A996-8EB467873CF2}">
      <dsp:nvSpPr>
        <dsp:cNvPr id="0" name=""/>
        <dsp:cNvSpPr/>
      </dsp:nvSpPr>
      <dsp:spPr>
        <a:xfrm>
          <a:off x="0" y="1250351"/>
          <a:ext cx="6545199" cy="1231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-1555074"/>
              <a:satOff val="-8227"/>
              <a:lumOff val="-313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7980" tIns="354076" rIns="50798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 baseline="0"/>
            <a:t>LM2596 regulates 9V battery $\rightarrow$ 5V for the Fan.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 baseline="0"/>
            <a:t>INA219 sensor is placed in series with the Fan ("High-Side" measurement).</a:t>
          </a:r>
          <a:endParaRPr lang="en-US" sz="1700" kern="1200"/>
        </a:p>
      </dsp:txBody>
      <dsp:txXfrm>
        <a:off x="0" y="1250351"/>
        <a:ext cx="6545199" cy="1231650"/>
      </dsp:txXfrm>
    </dsp:sp>
    <dsp:sp modelId="{61A296DB-8254-4742-A639-2ECBBF398098}">
      <dsp:nvSpPr>
        <dsp:cNvPr id="0" name=""/>
        <dsp:cNvSpPr/>
      </dsp:nvSpPr>
      <dsp:spPr>
        <a:xfrm>
          <a:off x="327259" y="999431"/>
          <a:ext cx="4581639" cy="501840"/>
        </a:xfrm>
        <a:prstGeom prst="roundRect">
          <a:avLst/>
        </a:prstGeom>
        <a:gradFill rotWithShape="0">
          <a:gsLst>
            <a:gs pos="0">
              <a:schemeClr val="accent2">
                <a:hueOff val="-1555074"/>
                <a:satOff val="-8227"/>
                <a:lumOff val="-3137"/>
                <a:alphaOff val="0"/>
                <a:tint val="98000"/>
                <a:lumMod val="100000"/>
              </a:schemeClr>
            </a:gs>
            <a:gs pos="100000">
              <a:schemeClr val="accent2">
                <a:hueOff val="-1555074"/>
                <a:satOff val="-8227"/>
                <a:lumOff val="-3137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3175" tIns="0" rIns="17317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Power Logic:</a:t>
          </a:r>
          <a:endParaRPr lang="en-US" sz="1700" kern="1200"/>
        </a:p>
      </dsp:txBody>
      <dsp:txXfrm>
        <a:off x="351757" y="1023929"/>
        <a:ext cx="4532643" cy="452844"/>
      </dsp:txXfrm>
    </dsp:sp>
    <dsp:sp modelId="{4812AC28-FDF4-4ADD-A89C-738E8D6659BD}">
      <dsp:nvSpPr>
        <dsp:cNvPr id="0" name=""/>
        <dsp:cNvSpPr/>
      </dsp:nvSpPr>
      <dsp:spPr>
        <a:xfrm>
          <a:off x="0" y="2824721"/>
          <a:ext cx="6545199" cy="1767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-3110148"/>
              <a:satOff val="-16453"/>
              <a:lumOff val="-627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7980" tIns="354076" rIns="50798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i="0" kern="1200" baseline="0"/>
            <a:t>I2C (INA219):</a:t>
          </a:r>
          <a:r>
            <a:rPr lang="en-US" sz="1700" b="0" i="0" kern="1200" baseline="0"/>
            <a:t> SDA $\rightarrow$ GPIO 21, SCL $\rightarrow$ GPIO 22.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i="0" kern="1200" baseline="0"/>
            <a:t>DHT11:</a:t>
          </a:r>
          <a:r>
            <a:rPr lang="en-US" sz="1700" b="0" i="0" kern="1200" baseline="0"/>
            <a:t> Data $\rightarrow$ GPIO 18.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i="0" kern="1200" baseline="0"/>
            <a:t>Power:</a:t>
          </a:r>
          <a:r>
            <a:rPr lang="en-US" sz="1700" b="0" i="0" kern="1200" baseline="0"/>
            <a:t> ESP32 powered via USB for stability; Fan powered via Battery.</a:t>
          </a:r>
          <a:endParaRPr lang="en-US" sz="1700" kern="1200"/>
        </a:p>
      </dsp:txBody>
      <dsp:txXfrm>
        <a:off x="0" y="2824721"/>
        <a:ext cx="6545199" cy="1767150"/>
      </dsp:txXfrm>
    </dsp:sp>
    <dsp:sp modelId="{4D0A821D-E6E3-4508-8C9F-6F92724F2673}">
      <dsp:nvSpPr>
        <dsp:cNvPr id="0" name=""/>
        <dsp:cNvSpPr/>
      </dsp:nvSpPr>
      <dsp:spPr>
        <a:xfrm>
          <a:off x="327259" y="2573801"/>
          <a:ext cx="4581639" cy="501840"/>
        </a:xfrm>
        <a:prstGeom prst="roundRect">
          <a:avLst/>
        </a:prstGeom>
        <a:gradFill rotWithShape="0">
          <a:gsLst>
            <a:gs pos="0">
              <a:schemeClr val="accent2">
                <a:hueOff val="-3110148"/>
                <a:satOff val="-16453"/>
                <a:lumOff val="-6274"/>
                <a:alphaOff val="0"/>
                <a:tint val="98000"/>
                <a:lumMod val="100000"/>
              </a:schemeClr>
            </a:gs>
            <a:gs pos="100000">
              <a:schemeClr val="accent2">
                <a:hueOff val="-3110148"/>
                <a:satOff val="-16453"/>
                <a:lumOff val="-6274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3175" tIns="0" rIns="17317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Pin Mapping:</a:t>
          </a:r>
          <a:endParaRPr lang="en-US" sz="1700" kern="1200"/>
        </a:p>
      </dsp:txBody>
      <dsp:txXfrm>
        <a:off x="351757" y="2598299"/>
        <a:ext cx="4532643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9141B8-20FF-45C4-9793-729E9BB8AF7C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4D1409-5FB3-475E-A580-D28ABB0BD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780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4D1409-5FB3-475E-A580-D28ABB0BDE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737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C8C73993-56A8-49FC-95D9-69575F4C4E6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84E3F60B-B966-4D3A-93B7-D4317B514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4384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3993-56A8-49FC-95D9-69575F4C4E6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F60B-B966-4D3A-93B7-D4317B514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3993-56A8-49FC-95D9-69575F4C4E6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F60B-B966-4D3A-93B7-D4317B514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000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3993-56A8-49FC-95D9-69575F4C4E6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F60B-B966-4D3A-93B7-D4317B514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60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3993-56A8-49FC-95D9-69575F4C4E6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F60B-B966-4D3A-93B7-D4317B514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914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3993-56A8-49FC-95D9-69575F4C4E6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F60B-B966-4D3A-93B7-D4317B514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152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3993-56A8-49FC-95D9-69575F4C4E6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F60B-B966-4D3A-93B7-D4317B514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91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3993-56A8-49FC-95D9-69575F4C4E6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F60B-B966-4D3A-93B7-D4317B514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65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3993-56A8-49FC-95D9-69575F4C4E6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F60B-B966-4D3A-93B7-D4317B514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329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3993-56A8-49FC-95D9-69575F4C4E6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F60B-B966-4D3A-93B7-D4317B514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55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3993-56A8-49FC-95D9-69575F4C4E6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F60B-B966-4D3A-93B7-D4317B514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40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3993-56A8-49FC-95D9-69575F4C4E6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F60B-B966-4D3A-93B7-D4317B514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3755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3993-56A8-49FC-95D9-69575F4C4E6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F60B-B966-4D3A-93B7-D4317B514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314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3993-56A8-49FC-95D9-69575F4C4E6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F60B-B966-4D3A-93B7-D4317B514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4796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3993-56A8-49FC-95D9-69575F4C4E6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F60B-B966-4D3A-93B7-D4317B514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9456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3993-56A8-49FC-95D9-69575F4C4E6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F60B-B966-4D3A-93B7-D4317B5148A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7563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73993-56A8-49FC-95D9-69575F4C4E6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3F60B-B966-4D3A-93B7-D4317B514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29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8C73993-56A8-49FC-95D9-69575F4C4E65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4E3F60B-B966-4D3A-93B7-D4317B514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830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D1E5586-8BB5-40F6-96C3-2E87DD7CE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D78C6-6045-52E4-2D24-E0E174911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3805" y="1354668"/>
            <a:ext cx="8204391" cy="2346475"/>
          </a:xfrm>
        </p:spPr>
        <p:txBody>
          <a:bodyPr>
            <a:normAutofit/>
          </a:bodyPr>
          <a:lstStyle/>
          <a:p>
            <a:pPr algn="ctr"/>
            <a:r>
              <a:rPr lang="en-US" sz="6000"/>
              <a:t>Iot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6C85AB-A7DB-AC89-0C4A-15D902757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7137" y="3940629"/>
            <a:ext cx="7197726" cy="124097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Abdullah Tahir </a:t>
            </a:r>
            <a:endParaRPr lang="en-US"/>
          </a:p>
          <a:p>
            <a:pPr algn="ctr"/>
            <a:r>
              <a:rPr lang="en-US" dirty="0"/>
              <a:t>Raees Ul Mujtaba</a:t>
            </a:r>
            <a:endParaRPr lang="en-US"/>
          </a:p>
          <a:p>
            <a:pPr algn="ctr"/>
            <a:r>
              <a:rPr lang="en-US" dirty="0"/>
              <a:t>Talha Mehmood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832D40-B9E2-4CE7-9E0A-B35591EA2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45629" y="3810000"/>
            <a:ext cx="50074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06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DD151A-17B4-2350-1D05-1A337D719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150076"/>
            <a:ext cx="3659389" cy="4557849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Introduction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D53D4-8E8D-6494-03EB-7EE1E9B72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8658" y="1150076"/>
            <a:ext cx="6517543" cy="4557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Title:</a:t>
            </a:r>
            <a:r>
              <a:rPr lang="en-US" dirty="0"/>
              <a:t> Smart IoT Power &amp; Environment Monitor </a:t>
            </a:r>
            <a:r>
              <a:rPr lang="en-US" b="1" dirty="0"/>
              <a:t>Subtitle:</a:t>
            </a:r>
            <a:r>
              <a:rPr lang="en-US" dirty="0"/>
              <a:t> A Real-Time Remote Monitoring System using ESP32, </a:t>
            </a:r>
            <a:r>
              <a:rPr lang="en-US" dirty="0" err="1"/>
              <a:t>FastAPI</a:t>
            </a:r>
            <a:r>
              <a:rPr lang="en-US" dirty="0"/>
              <a:t>, and React</a:t>
            </a:r>
          </a:p>
        </p:txBody>
      </p:sp>
    </p:spTree>
    <p:extLst>
      <p:ext uri="{BB962C8B-B14F-4D97-AF65-F5344CB8AC3E}">
        <p14:creationId xmlns:p14="http://schemas.microsoft.com/office/powerpoint/2010/main" val="2070535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08B76-C09B-3B95-38A3-A8C02CA3A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5219699" cy="1456267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D80F3-D6EB-D93A-08D9-A8BCDC501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5219699" cy="364913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b="1"/>
              <a:t>Title:</a:t>
            </a:r>
            <a:r>
              <a:rPr lang="en-US" sz="1500"/>
              <a:t> Project Overview</a:t>
            </a:r>
          </a:p>
          <a:p>
            <a:pPr>
              <a:lnSpc>
                <a:spcPct val="90000"/>
              </a:lnSpc>
            </a:pPr>
            <a:r>
              <a:rPr lang="en-US" sz="1500" b="1"/>
              <a:t>What is it?</a:t>
            </a:r>
            <a:r>
              <a:rPr lang="en-US" sz="1500"/>
              <a:t> An Internet of Things (IoT) system that monitors electrical power and room environment in real-time.</a:t>
            </a:r>
          </a:p>
          <a:p>
            <a:pPr>
              <a:lnSpc>
                <a:spcPct val="90000"/>
              </a:lnSpc>
            </a:pPr>
            <a:r>
              <a:rPr lang="en-US" sz="1500" b="1"/>
              <a:t>Key Features:</a:t>
            </a:r>
            <a:endParaRPr lang="en-US" sz="1500"/>
          </a:p>
          <a:p>
            <a:pPr lvl="1">
              <a:lnSpc>
                <a:spcPct val="90000"/>
              </a:lnSpc>
            </a:pPr>
            <a:r>
              <a:rPr lang="en-US" sz="1500"/>
              <a:t>Measures Voltage, Current, and Power consumption.</a:t>
            </a:r>
          </a:p>
          <a:p>
            <a:pPr lvl="1">
              <a:lnSpc>
                <a:spcPct val="90000"/>
              </a:lnSpc>
            </a:pPr>
            <a:r>
              <a:rPr lang="en-US" sz="1500"/>
              <a:t>Monitors Temperature and Humidity.</a:t>
            </a:r>
          </a:p>
          <a:p>
            <a:pPr lvl="1">
              <a:lnSpc>
                <a:spcPct val="90000"/>
              </a:lnSpc>
            </a:pPr>
            <a:r>
              <a:rPr lang="en-US" sz="1500"/>
              <a:t>Wireless data transmission over Wi-Fi.</a:t>
            </a:r>
          </a:p>
          <a:p>
            <a:pPr lvl="1">
              <a:lnSpc>
                <a:spcPct val="90000"/>
              </a:lnSpc>
            </a:pPr>
            <a:r>
              <a:rPr lang="en-US" sz="1500"/>
              <a:t>Web-based Dashboard for remote viewing.</a:t>
            </a:r>
          </a:p>
          <a:p>
            <a:pPr>
              <a:lnSpc>
                <a:spcPct val="90000"/>
              </a:lnSpc>
            </a:pPr>
            <a:r>
              <a:rPr lang="en-US" sz="1500" b="1"/>
              <a:t>Goal:</a:t>
            </a:r>
            <a:r>
              <a:rPr lang="en-US" sz="1500"/>
              <a:t> To create a low-cost, scalable system for monitoring DC loads and environmental conditions remotely.</a:t>
            </a:r>
          </a:p>
          <a:p>
            <a:pPr>
              <a:lnSpc>
                <a:spcPct val="90000"/>
              </a:lnSpc>
            </a:pPr>
            <a:endParaRPr lang="en-US" sz="1500"/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2D57708A-BA16-B6F4-DCE5-88F9A8D54A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621" r="11022" b="-1"/>
          <a:stretch>
            <a:fillRect/>
          </a:stretch>
        </p:blipFill>
        <p:spPr>
          <a:xfrm>
            <a:off x="6198830" y="639097"/>
            <a:ext cx="5447070" cy="5250425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5421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709A45-C6F3-4CEE-AA0F-887FAC5CA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730378-02FD-4CEB-DCD1-8AF5091A4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533400"/>
            <a:ext cx="10820400" cy="1177092"/>
          </a:xfrm>
        </p:spPr>
        <p:txBody>
          <a:bodyPr anchor="b">
            <a:normAutofit/>
          </a:bodyPr>
          <a:lstStyle/>
          <a:p>
            <a:pPr algn="ctr"/>
            <a:r>
              <a:rPr lang="en-US" sz="4400"/>
              <a:t>Problem Statement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6E963D7-0A73-484A-B8A2-DDBFEA123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45629" y="1850077"/>
            <a:ext cx="50074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4C7056C-A9F3-AF7C-5D55-1356BDA53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243892"/>
            <a:ext cx="10820400" cy="354730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 dirty="0"/>
              <a:t>Title:</a:t>
            </a:r>
            <a:r>
              <a:rPr lang="en-US" sz="2000" dirty="0"/>
              <a:t> Why Build This?</a:t>
            </a:r>
          </a:p>
          <a:p>
            <a:pPr>
              <a:lnSpc>
                <a:spcPct val="90000"/>
              </a:lnSpc>
            </a:pPr>
            <a:r>
              <a:rPr lang="en-US" sz="2000" b="1" dirty="0"/>
              <a:t>The Problem:</a:t>
            </a:r>
            <a:endParaRPr lang="en-US" sz="2000" dirty="0"/>
          </a:p>
          <a:p>
            <a:pPr lvl="1">
              <a:lnSpc>
                <a:spcPct val="90000"/>
              </a:lnSpc>
            </a:pPr>
            <a:r>
              <a:rPr lang="en-US" sz="2000" dirty="0"/>
              <a:t>Monitoring power consumption of devices usually requires manual tools (multimeters).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Physical presence is needed to check device status (Is the fan running? Is it overheating?).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No historical data log to analyze trends over time.</a:t>
            </a:r>
          </a:p>
          <a:p>
            <a:pPr>
              <a:lnSpc>
                <a:spcPct val="90000"/>
              </a:lnSpc>
            </a:pPr>
            <a:r>
              <a:rPr lang="en-US" sz="2000" b="1" dirty="0"/>
              <a:t>The Need:</a:t>
            </a:r>
            <a:r>
              <a:rPr lang="en-US" sz="2000" dirty="0"/>
              <a:t> A system that automates this process and makes data accessible from anywhere on a laptop or phone.</a:t>
            </a:r>
          </a:p>
          <a:p>
            <a:pPr marL="0" indent="0">
              <a:lnSpc>
                <a:spcPct val="90000"/>
              </a:lnSpc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79298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35CF2-F7AC-FCDC-B478-CE6FCB00A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>
            <a:normAutofit/>
          </a:bodyPr>
          <a:lstStyle/>
          <a:p>
            <a:r>
              <a:rPr lang="en-US" dirty="0"/>
              <a:t>System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75467C-D8AD-E629-E444-F527F7CE6F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5432709"/>
              </p:ext>
            </p:extLst>
          </p:nvPr>
        </p:nvGraphicFramePr>
        <p:xfrm>
          <a:off x="685800" y="2406400"/>
          <a:ext cx="10131425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21104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4194A-4BA1-1595-ADA9-D7EA0D0FA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8" y="639097"/>
            <a:ext cx="6593075" cy="1612490"/>
          </a:xfrm>
        </p:spPr>
        <p:txBody>
          <a:bodyPr>
            <a:normAutofit/>
          </a:bodyPr>
          <a:lstStyle/>
          <a:p>
            <a:r>
              <a:rPr lang="en-US"/>
              <a:t>Hardware Components</a:t>
            </a:r>
            <a:endParaRPr lang="en-US" dirty="0"/>
          </a:p>
        </p:txBody>
      </p:sp>
      <p:pic>
        <p:nvPicPr>
          <p:cNvPr id="17" name="Picture 16" descr="Electronics protoboard">
            <a:extLst>
              <a:ext uri="{FF2B5EF4-FFF2-40B4-BE49-F238E27FC236}">
                <a16:creationId xmlns:a16="http://schemas.microsoft.com/office/drawing/2014/main" id="{5D3652B4-5CBE-5DF3-3910-15A8E0F43E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36" r="44440" b="-2"/>
          <a:stretch>
            <a:fillRect/>
          </a:stretch>
        </p:blipFill>
        <p:spPr>
          <a:xfrm>
            <a:off x="20" y="975"/>
            <a:ext cx="4635988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183F4-D86D-A3B3-EE95-4D3615299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5458" y="2251587"/>
            <a:ext cx="6593075" cy="3972232"/>
          </a:xfrm>
        </p:spPr>
        <p:txBody>
          <a:bodyPr>
            <a:normAutofit/>
          </a:bodyPr>
          <a:lstStyle/>
          <a:p>
            <a:r>
              <a:rPr lang="en-US" b="1" dirty="0"/>
              <a:t>Title:</a:t>
            </a:r>
            <a:r>
              <a:rPr lang="en-US" dirty="0"/>
              <a:t> Hardware Used</a:t>
            </a:r>
          </a:p>
          <a:p>
            <a:r>
              <a:rPr lang="en-US" b="1" dirty="0"/>
              <a:t>Microcontroller:</a:t>
            </a:r>
            <a:r>
              <a:rPr lang="en-US" dirty="0"/>
              <a:t> </a:t>
            </a:r>
            <a:r>
              <a:rPr lang="en-US" b="1" dirty="0"/>
              <a:t>ESP32</a:t>
            </a:r>
            <a:r>
              <a:rPr lang="en-US" dirty="0"/>
              <a:t> (Dual-core, Integrated Wi-Fi).</a:t>
            </a:r>
          </a:p>
          <a:p>
            <a:r>
              <a:rPr lang="en-US" b="1" dirty="0"/>
              <a:t>Power Sensor:</a:t>
            </a:r>
            <a:r>
              <a:rPr lang="en-US" dirty="0"/>
              <a:t> </a:t>
            </a:r>
            <a:r>
              <a:rPr lang="en-US" b="1" dirty="0"/>
              <a:t>INA219</a:t>
            </a:r>
            <a:r>
              <a:rPr lang="en-US" dirty="0"/>
              <a:t> (Measures Voltage up to 26V and Current).</a:t>
            </a:r>
          </a:p>
          <a:p>
            <a:r>
              <a:rPr lang="en-US" b="1" dirty="0"/>
              <a:t>Environment Sensor:</a:t>
            </a:r>
            <a:r>
              <a:rPr lang="en-US" dirty="0"/>
              <a:t> </a:t>
            </a:r>
            <a:r>
              <a:rPr lang="en-US" b="1" dirty="0"/>
              <a:t>DHT11</a:t>
            </a:r>
            <a:r>
              <a:rPr lang="en-US" dirty="0"/>
              <a:t> (Temperature &amp; Humidity).</a:t>
            </a:r>
          </a:p>
          <a:p>
            <a:r>
              <a:rPr lang="en-US" b="1" dirty="0"/>
              <a:t>Power Supply:</a:t>
            </a:r>
            <a:r>
              <a:rPr lang="en-US" dirty="0"/>
              <a:t> 9V Battery with </a:t>
            </a:r>
            <a:r>
              <a:rPr lang="en-US" b="1" dirty="0"/>
              <a:t>LM2596 Buck Converter</a:t>
            </a:r>
            <a:r>
              <a:rPr lang="en-US" dirty="0"/>
              <a:t> (Stepped down to 5V).</a:t>
            </a:r>
          </a:p>
          <a:p>
            <a:r>
              <a:rPr lang="en-US" b="1" dirty="0"/>
              <a:t>Load:</a:t>
            </a:r>
            <a:r>
              <a:rPr lang="en-US" dirty="0"/>
              <a:t> 5V DC Fan and LED.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590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48F950-1409-F60A-C4F4-8043B72AE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2590799" cy="499533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Circuit Design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E67AF42-DD53-73FC-8A15-EDFB93C06B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6148291"/>
              </p:ext>
            </p:extLst>
          </p:nvPr>
        </p:nvGraphicFramePr>
        <p:xfrm>
          <a:off x="4808601" y="901700"/>
          <a:ext cx="6545199" cy="482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36572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4E9259-9ADB-E040-28B7-DC3E2D645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150076"/>
            <a:ext cx="3659389" cy="4557849"/>
          </a:xfrm>
        </p:spPr>
        <p:txBody>
          <a:bodyPr>
            <a:normAutofit/>
          </a:bodyPr>
          <a:lstStyle/>
          <a:p>
            <a:pPr algn="r"/>
            <a:r>
              <a:rPr lang="en-US"/>
              <a:t>Software Stack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6DA4111-EB06-2A3D-60C0-74D83BC8C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8658" y="1150076"/>
            <a:ext cx="6517543" cy="455784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/>
              <a:t>Title:</a:t>
            </a:r>
            <a:r>
              <a:rPr lang="en-US"/>
              <a:t> Technologies Used</a:t>
            </a:r>
          </a:p>
          <a:p>
            <a:pPr>
              <a:lnSpc>
                <a:spcPct val="90000"/>
              </a:lnSpc>
            </a:pPr>
            <a:r>
              <a:rPr lang="en-US" b="1"/>
              <a:t>Firmware (ESP32):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/>
              <a:t>Written in </a:t>
            </a:r>
            <a:r>
              <a:rPr lang="en-US" b="1"/>
              <a:t>C++</a:t>
            </a:r>
            <a:r>
              <a:rPr lang="en-US"/>
              <a:t> (Arduino IDE/</a:t>
            </a:r>
            <a:r>
              <a:rPr lang="en-US" err="1"/>
              <a:t>PlatformIO</a:t>
            </a:r>
            <a:r>
              <a:rPr lang="en-US"/>
              <a:t>).</a:t>
            </a:r>
          </a:p>
          <a:p>
            <a:pPr lvl="1">
              <a:lnSpc>
                <a:spcPct val="90000"/>
              </a:lnSpc>
            </a:pPr>
            <a:r>
              <a:rPr lang="en-US"/>
              <a:t>Libraries: Adafruit_INA219, DHT, </a:t>
            </a:r>
            <a:r>
              <a:rPr lang="en-US" err="1"/>
              <a:t>HTTPClient</a:t>
            </a:r>
            <a:r>
              <a:rPr lang="en-US"/>
              <a:t>.</a:t>
            </a:r>
          </a:p>
          <a:p>
            <a:pPr>
              <a:lnSpc>
                <a:spcPct val="90000"/>
              </a:lnSpc>
            </a:pPr>
            <a:r>
              <a:rPr lang="en-US" b="1"/>
              <a:t>Backend API: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 b="1"/>
              <a:t>Python (</a:t>
            </a:r>
            <a:r>
              <a:rPr lang="en-US" b="1" err="1"/>
              <a:t>FastAPI</a:t>
            </a:r>
            <a:r>
              <a:rPr lang="en-US" b="1"/>
              <a:t>):</a:t>
            </a:r>
            <a:r>
              <a:rPr lang="en-US"/>
              <a:t> High-performance web framework.</a:t>
            </a:r>
          </a:p>
          <a:p>
            <a:pPr lvl="1">
              <a:lnSpc>
                <a:spcPct val="90000"/>
              </a:lnSpc>
            </a:pPr>
            <a:r>
              <a:rPr lang="en-US" b="1" err="1"/>
              <a:t>Uvicorn</a:t>
            </a:r>
            <a:r>
              <a:rPr lang="en-US" b="1"/>
              <a:t>:</a:t>
            </a:r>
            <a:r>
              <a:rPr lang="en-US"/>
              <a:t> ASGI Server for handling requests.</a:t>
            </a:r>
          </a:p>
          <a:p>
            <a:pPr>
              <a:lnSpc>
                <a:spcPct val="90000"/>
              </a:lnSpc>
            </a:pPr>
            <a:r>
              <a:rPr lang="en-US" b="1"/>
              <a:t>Database: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 b="1" err="1"/>
              <a:t>Supabase</a:t>
            </a:r>
            <a:r>
              <a:rPr lang="en-US" b="1"/>
              <a:t> (PostgreSQL):</a:t>
            </a:r>
            <a:r>
              <a:rPr lang="en-US"/>
              <a:t> Cloud database for storing sensor logs.</a:t>
            </a:r>
          </a:p>
          <a:p>
            <a:pPr>
              <a:lnSpc>
                <a:spcPct val="90000"/>
              </a:lnSpc>
            </a:pPr>
            <a:r>
              <a:rPr lang="en-US" b="1"/>
              <a:t>Frontend: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 b="1"/>
              <a:t>React.js (Vite):</a:t>
            </a:r>
            <a:r>
              <a:rPr lang="en-US"/>
              <a:t> Fast, modern UI library.</a:t>
            </a:r>
          </a:p>
          <a:p>
            <a:pPr lvl="1">
              <a:lnSpc>
                <a:spcPct val="90000"/>
              </a:lnSpc>
            </a:pPr>
            <a:r>
              <a:rPr lang="en-US" b="1"/>
              <a:t>Recharts:</a:t>
            </a:r>
            <a:r>
              <a:rPr lang="en-US"/>
              <a:t> For rendering live data graphs.</a:t>
            </a:r>
          </a:p>
          <a:p>
            <a:pPr>
              <a:lnSpc>
                <a:spcPct val="9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314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CF8F6-6F67-9B08-DC56-9E4AAFC72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8" y="639097"/>
            <a:ext cx="6593075" cy="1612490"/>
          </a:xfrm>
        </p:spPr>
        <p:txBody>
          <a:bodyPr>
            <a:normAutofit/>
          </a:bodyPr>
          <a:lstStyle/>
          <a:p>
            <a:r>
              <a:rPr lang="en-US" dirty="0"/>
              <a:t>Data Flow Logic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447AD6-4480-1E52-2155-5E7E9F7D3C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83" r="48192"/>
          <a:stretch>
            <a:fillRect/>
          </a:stretch>
        </p:blipFill>
        <p:spPr>
          <a:xfrm>
            <a:off x="20" y="975"/>
            <a:ext cx="4635988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68908-2DAE-52FE-289D-B7DAFBD58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5458" y="2251587"/>
            <a:ext cx="6593075" cy="3972232"/>
          </a:xfrm>
        </p:spPr>
        <p:txBody>
          <a:bodyPr>
            <a:normAutofit/>
          </a:bodyPr>
          <a:lstStyle/>
          <a:p>
            <a:r>
              <a:rPr lang="en-US" b="1" dirty="0"/>
              <a:t>Title:</a:t>
            </a:r>
            <a:r>
              <a:rPr lang="en-US" dirty="0"/>
              <a:t> How Data Travels</a:t>
            </a:r>
          </a:p>
          <a:p>
            <a:r>
              <a:rPr lang="en-US" b="1" dirty="0"/>
              <a:t>Sense:</a:t>
            </a:r>
            <a:r>
              <a:rPr lang="en-US" dirty="0"/>
              <a:t> ESP32 reads voltage (4.1V) and temp (20°C).</a:t>
            </a:r>
          </a:p>
          <a:p>
            <a:r>
              <a:rPr lang="en-US" b="1" dirty="0"/>
              <a:t>Format:</a:t>
            </a:r>
            <a:r>
              <a:rPr lang="en-US" dirty="0"/>
              <a:t> Data is packed into a </a:t>
            </a:r>
            <a:r>
              <a:rPr lang="en-US" b="1" dirty="0"/>
              <a:t>JSON</a:t>
            </a:r>
            <a:r>
              <a:rPr lang="en-US" dirty="0"/>
              <a:t> object.</a:t>
            </a:r>
          </a:p>
          <a:p>
            <a:pPr lvl="1"/>
            <a:r>
              <a:rPr lang="en-US" dirty="0"/>
              <a:t>{"voltage": 4.1, "temperature": 20.0, ...}</a:t>
            </a:r>
          </a:p>
          <a:p>
            <a:r>
              <a:rPr lang="en-US" b="1" dirty="0"/>
              <a:t>Transmit:</a:t>
            </a:r>
            <a:r>
              <a:rPr lang="en-US" dirty="0"/>
              <a:t> ESP32 sends an </a:t>
            </a:r>
            <a:r>
              <a:rPr lang="en-US" b="1" dirty="0"/>
              <a:t>HTTP POST</a:t>
            </a:r>
            <a:r>
              <a:rPr lang="en-US" dirty="0"/>
              <a:t> request to the Python Server IP.</a:t>
            </a:r>
          </a:p>
          <a:p>
            <a:r>
              <a:rPr lang="en-US" b="1" dirty="0"/>
              <a:t>Process:</a:t>
            </a:r>
            <a:r>
              <a:rPr lang="en-US" dirty="0"/>
              <a:t> Python verifies data and saves it to </a:t>
            </a:r>
            <a:r>
              <a:rPr lang="en-US" b="1" dirty="0" err="1"/>
              <a:t>Supabase</a:t>
            </a:r>
            <a:r>
              <a:rPr lang="en-US" dirty="0"/>
              <a:t>.</a:t>
            </a:r>
          </a:p>
          <a:p>
            <a:r>
              <a:rPr lang="en-US" b="1" dirty="0"/>
              <a:t>Visualize:</a:t>
            </a:r>
            <a:r>
              <a:rPr lang="en-US" dirty="0"/>
              <a:t> React Dashboard asks for "Top 10 Newest Records" and updates the charts.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656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96C4F-3568-547B-E52B-3DA99AA41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8" y="639097"/>
            <a:ext cx="6593075" cy="1612490"/>
          </a:xfrm>
        </p:spPr>
        <p:txBody>
          <a:bodyPr>
            <a:normAutofit/>
          </a:bodyPr>
          <a:lstStyle/>
          <a:p>
            <a:r>
              <a:rPr lang="en-US" dirty="0"/>
              <a:t>The Dashboard (Result)</a:t>
            </a:r>
          </a:p>
        </p:txBody>
      </p:sp>
      <p:pic>
        <p:nvPicPr>
          <p:cNvPr id="7" name="Picture 6" descr="Speedometer">
            <a:extLst>
              <a:ext uri="{FF2B5EF4-FFF2-40B4-BE49-F238E27FC236}">
                <a16:creationId xmlns:a16="http://schemas.microsoft.com/office/drawing/2014/main" id="{7292DF6A-B0F7-FAE9-B6BF-D3D5B7540A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086" r="28833" b="-1"/>
          <a:stretch>
            <a:fillRect/>
          </a:stretch>
        </p:blipFill>
        <p:spPr>
          <a:xfrm>
            <a:off x="20" y="975"/>
            <a:ext cx="4635988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6F4DD-8B50-7241-7030-B1D6E22DA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5458" y="2251587"/>
            <a:ext cx="6593075" cy="3972232"/>
          </a:xfrm>
        </p:spPr>
        <p:txBody>
          <a:bodyPr>
            <a:normAutofit/>
          </a:bodyPr>
          <a:lstStyle/>
          <a:p>
            <a:r>
              <a:rPr lang="en-US" b="1" dirty="0"/>
              <a:t>Title:</a:t>
            </a:r>
            <a:r>
              <a:rPr lang="en-US" dirty="0"/>
              <a:t> User Interface (Frontend)</a:t>
            </a:r>
          </a:p>
          <a:p>
            <a:r>
              <a:rPr lang="en-US" b="1" dirty="0"/>
              <a:t>Real-Time Monitoring:</a:t>
            </a:r>
            <a:endParaRPr lang="en-US" dirty="0"/>
          </a:p>
          <a:p>
            <a:pPr lvl="1"/>
            <a:r>
              <a:rPr lang="en-US" dirty="0"/>
              <a:t>Live Charts for Voltage, Current, and Power.</a:t>
            </a:r>
          </a:p>
          <a:p>
            <a:pPr lvl="1"/>
            <a:r>
              <a:rPr lang="en-US" dirty="0"/>
              <a:t>Gauges for Temperature and Humidity.</a:t>
            </a:r>
          </a:p>
          <a:p>
            <a:r>
              <a:rPr lang="en-US" b="1" dirty="0"/>
              <a:t>Status Indicators:</a:t>
            </a:r>
            <a:endParaRPr lang="en-US" dirty="0"/>
          </a:p>
          <a:p>
            <a:pPr lvl="1"/>
            <a:r>
              <a:rPr lang="en-US" dirty="0"/>
              <a:t>Visual text showing if the Fan is ON/OFF.</a:t>
            </a:r>
          </a:p>
          <a:p>
            <a:r>
              <a:rPr lang="en-US" b="1" dirty="0"/>
              <a:t>Auto-Refresh:</a:t>
            </a:r>
            <a:r>
              <a:rPr lang="en-US" dirty="0"/>
              <a:t> The interface updates automatically every 2 seconds without reloading the page.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145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8721E-CB66-BECB-A3B0-D32B9A589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150076"/>
            <a:ext cx="3659389" cy="4557849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Challenges &amp; Solutions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C6A6A-0989-62FB-D17B-4A5AF6EC0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8658" y="1150076"/>
            <a:ext cx="6517543" cy="455784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/>
              <a:t>Title:</a:t>
            </a:r>
            <a:r>
              <a:rPr lang="en-US" dirty="0"/>
              <a:t> Challenges Faced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b="1" dirty="0"/>
              <a:t>1. The Brownout Issue: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 i="1" dirty="0"/>
              <a:t>Problem:</a:t>
            </a:r>
            <a:r>
              <a:rPr lang="en-US" dirty="0"/>
              <a:t> 9V battery voltage dropped when Wi-Fi turned on, crashing the ESP32.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 i="1" dirty="0"/>
              <a:t>Solution:</a:t>
            </a:r>
            <a:r>
              <a:rPr lang="en-US" dirty="0"/>
              <a:t> Separated power sources (USB for ESP32, Battery for Fan).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b="1" dirty="0"/>
              <a:t>2. Data Synchronization: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 i="1" dirty="0"/>
              <a:t>Problem:</a:t>
            </a:r>
            <a:r>
              <a:rPr lang="en-US" dirty="0"/>
              <a:t> Dashboard showed old "ghost" data (12.5V).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 i="1" dirty="0"/>
              <a:t>Solution:</a:t>
            </a:r>
            <a:r>
              <a:rPr lang="en-US" dirty="0"/>
              <a:t> Updated backend to sort by ID (Descending) instead of timestamp.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b="1" dirty="0"/>
              <a:t>3. Network Blocking: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 i="1" dirty="0"/>
              <a:t>Problem:</a:t>
            </a:r>
            <a:r>
              <a:rPr lang="en-US" dirty="0"/>
              <a:t> ESP32 got "Error -1" (Connection Refused).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 i="1" dirty="0"/>
              <a:t>Solution:</a:t>
            </a:r>
            <a:r>
              <a:rPr lang="en-US" dirty="0"/>
              <a:t> Configured Server to run on 0.0.0.0 and allowed Python through Windows Firewall.</a:t>
            </a:r>
            <a:endParaRPr lang="en-US"/>
          </a:p>
          <a:p>
            <a:pPr>
              <a:lnSpc>
                <a:spcPct val="9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941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E6A33-7E09-05CF-F53D-F8B3A5333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8" y="639097"/>
            <a:ext cx="6593075" cy="1612490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pic>
        <p:nvPicPr>
          <p:cNvPr id="5" name="Picture 4" descr="Electronic circuit board">
            <a:extLst>
              <a:ext uri="{FF2B5EF4-FFF2-40B4-BE49-F238E27FC236}">
                <a16:creationId xmlns:a16="http://schemas.microsoft.com/office/drawing/2014/main" id="{994F62DD-92A7-FCBA-DE97-C8E74C618A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641" r="36814" b="1"/>
          <a:stretch>
            <a:fillRect/>
          </a:stretch>
        </p:blipFill>
        <p:spPr>
          <a:xfrm>
            <a:off x="20" y="975"/>
            <a:ext cx="4635988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D9D02-7D01-60A5-84B3-63C29BBFF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5458" y="2251587"/>
            <a:ext cx="6593075" cy="3972232"/>
          </a:xfrm>
        </p:spPr>
        <p:txBody>
          <a:bodyPr>
            <a:normAutofit/>
          </a:bodyPr>
          <a:lstStyle/>
          <a:p>
            <a:r>
              <a:rPr lang="en-US" b="1" dirty="0"/>
              <a:t>Title:</a:t>
            </a:r>
            <a:r>
              <a:rPr lang="en-US" dirty="0"/>
              <a:t> Conclusion</a:t>
            </a:r>
          </a:p>
          <a:p>
            <a:r>
              <a:rPr lang="en-US" b="1" dirty="0"/>
              <a:t>Summary:</a:t>
            </a:r>
            <a:r>
              <a:rPr lang="en-US" dirty="0"/>
              <a:t> We successfully built a functional IoT monitoring system that connects hardware signals to a modern web interface.</a:t>
            </a:r>
          </a:p>
          <a:p>
            <a:r>
              <a:rPr lang="en-US" b="1" dirty="0"/>
              <a:t>Key Learning:</a:t>
            </a:r>
            <a:r>
              <a:rPr lang="en-US" dirty="0"/>
              <a:t> Integration of Hardware (Electronics) with Software (Full-Stack Web Dev) is critical for IoT.</a:t>
            </a:r>
          </a:p>
          <a:p>
            <a:r>
              <a:rPr lang="en-US" b="1" dirty="0"/>
              <a:t>Status:</a:t>
            </a:r>
            <a:r>
              <a:rPr lang="en-US" dirty="0"/>
              <a:t> The system is operational, showing live, accurate data.</a:t>
            </a:r>
          </a:p>
          <a:p>
            <a:pPr marL="0" indent="0">
              <a:buNone/>
            </a:pPr>
            <a:r>
              <a:rPr lang="en-US" dirty="0"/>
              <a:t> Thank You! Any Questions?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0626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17</TotalTime>
  <Words>774</Words>
  <Application>Microsoft Office PowerPoint</Application>
  <PresentationFormat>Widescreen</PresentationFormat>
  <Paragraphs>92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Celestial</vt:lpstr>
      <vt:lpstr>Iot Project</vt:lpstr>
      <vt:lpstr>Introduction</vt:lpstr>
      <vt:lpstr>Introduction</vt:lpstr>
      <vt:lpstr>Problem Statement</vt:lpstr>
      <vt:lpstr>System Architecture</vt:lpstr>
      <vt:lpstr>Hardware Components</vt:lpstr>
      <vt:lpstr>Circuit Design</vt:lpstr>
      <vt:lpstr>Software Stack</vt:lpstr>
      <vt:lpstr>Data Flow Logic</vt:lpstr>
      <vt:lpstr>The Dashboard (Result)</vt:lpstr>
      <vt:lpstr>Challenges &amp; Solutions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23-NTU-CS-FL-1276</dc:creator>
  <cp:lastModifiedBy>23-NTU-CS-FL-1276</cp:lastModifiedBy>
  <cp:revision>1</cp:revision>
  <dcterms:created xsi:type="dcterms:W3CDTF">2025-12-31T13:33:42Z</dcterms:created>
  <dcterms:modified xsi:type="dcterms:W3CDTF">2025-12-31T13:51:16Z</dcterms:modified>
</cp:coreProperties>
</file>